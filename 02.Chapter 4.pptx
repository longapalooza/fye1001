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46" r:id="rId2"/>
    <p:sldId id="329" r:id="rId3"/>
    <p:sldId id="355" r:id="rId4"/>
    <p:sldId id="334" r:id="rId5"/>
    <p:sldId id="353" r:id="rId6"/>
    <p:sldId id="343" r:id="rId7"/>
    <p:sldId id="360" r:id="rId8"/>
    <p:sldId id="325" r:id="rId9"/>
    <p:sldId id="358" r:id="rId10"/>
    <p:sldId id="359" r:id="rId11"/>
    <p:sldId id="354" r:id="rId12"/>
    <p:sldId id="361" r:id="rId13"/>
    <p:sldId id="363" r:id="rId14"/>
    <p:sldId id="3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3B3CC-E4BC-42BB-842F-95BE39BD988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09DF3-70C6-4799-801A-88CC2C581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42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1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593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363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258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2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043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8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38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14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502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192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7319941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1634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0286" t="49280" r="50286"/>
          <a:stretch/>
        </p:blipFill>
        <p:spPr>
          <a:xfrm>
            <a:off x="8077200" y="0"/>
            <a:ext cx="4114800" cy="3478385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55550" y="-382268"/>
            <a:ext cx="1291008" cy="1291008"/>
          </a:xfrm>
          <a:prstGeom prst="ellipse">
            <a:avLst/>
          </a:prstGeom>
          <a:solidFill>
            <a:srgbClr val="CB33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343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5262" y="5114303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3460" y="1013569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4ED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30210" y="-230369"/>
            <a:ext cx="2115351" cy="21153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24225" y="2257196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17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16"/>
          <a:stretch/>
        </p:blipFill>
        <p:spPr>
          <a:xfrm>
            <a:off x="10173182" y="-246461"/>
            <a:ext cx="1574573" cy="421148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73181" y="4281054"/>
            <a:ext cx="1574573" cy="1572768"/>
          </a:xfrm>
          <a:prstGeom prst="ellipse">
            <a:avLst/>
          </a:prstGeom>
          <a:solidFill>
            <a:srgbClr val="CB33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96750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82973" y="0"/>
            <a:ext cx="2133966" cy="2133967"/>
            <a:chOff x="9654700" y="2229294"/>
            <a:chExt cx="2133966" cy="213396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700" y="2229294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rgbClr val="D4E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t="52884" r="47081"/>
          <a:stretch/>
        </p:blipFill>
        <p:spPr>
          <a:xfrm flipH="1" flipV="1">
            <a:off x="-1" y="3626778"/>
            <a:ext cx="3629203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6690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t="17849" r="22091"/>
          <a:stretch/>
        </p:blipFill>
        <p:spPr>
          <a:xfrm>
            <a:off x="7114998" y="0"/>
            <a:ext cx="5097779" cy="5261843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55177" y="234084"/>
            <a:ext cx="3657600" cy="365760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262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952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807"/>
          <a:stretch/>
        </p:blipFill>
        <p:spPr>
          <a:xfrm rot="10800000">
            <a:off x="9987169" y="4877232"/>
            <a:ext cx="1574573" cy="198076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987170" y="3039926"/>
            <a:ext cx="1572768" cy="15727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11185" y="2041456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744073" y="203768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2832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63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 rot="10800000">
            <a:off x="-887922" y="0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7902" y="5607506"/>
            <a:ext cx="1096391" cy="1096391"/>
          </a:xfrm>
          <a:prstGeom prst="ellipse">
            <a:avLst/>
          </a:prstGeom>
          <a:solidFill>
            <a:srgbClr val="D4ED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0638" y="5090242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65200" y="136525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356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63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Table">
    <p:bg>
      <p:bgPr>
        <a:solidFill>
          <a:srgbClr val="0A3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D473EF75-AC7C-4AEA-B17E-E6368BACF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30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D473EF75-AC7C-4AEA-B17E-E6368BACF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62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63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73EF75-AC7C-4AEA-B17E-E6368BACF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3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63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7983" r="47282"/>
          <a:stretch/>
        </p:blipFill>
        <p:spPr>
          <a:xfrm>
            <a:off x="8576607" y="0"/>
            <a:ext cx="3615393" cy="2881530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97961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rgbClr val="CB33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81409ACA-993C-475F-A898-6384E1A77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rgbClr val="CB33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Object 1">
            <a:extLst>
              <a:ext uri="{FF2B5EF4-FFF2-40B4-BE49-F238E27FC236}">
                <a16:creationId xmlns:a16="http://schemas.microsoft.com/office/drawing/2014/main" id="{3D99EDD5-4ECD-4364-A0BB-59452709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D473EF75-AC7C-4AEA-B17E-E6368BACF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0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int.latech.edu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abc123@latech.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mail.latech.edu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hyperlink" Target="https://dogflix.latech.edu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3" y="1709210"/>
            <a:ext cx="9284392" cy="1719790"/>
          </a:xfrm>
        </p:spPr>
        <p:txBody>
          <a:bodyPr/>
          <a:lstStyle/>
          <a:p>
            <a:r>
              <a:rPr lang="en-US" sz="8000" dirty="0"/>
              <a:t>TECH-NOLOGY:</a:t>
            </a:r>
            <a:br>
              <a:rPr lang="en-US" sz="8000" dirty="0"/>
            </a:br>
            <a:r>
              <a:rPr lang="en-US" sz="7200" dirty="0"/>
              <a:t>Tools for Success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F4F50D-EF92-52BD-E839-28B30DD0BD09}"/>
              </a:ext>
            </a:extLst>
          </p:cNvPr>
          <p:cNvSpPr txBox="1">
            <a:spLocks/>
          </p:cNvSpPr>
          <p:nvPr/>
        </p:nvSpPr>
        <p:spPr>
          <a:xfrm>
            <a:off x="384003" y="5934846"/>
            <a:ext cx="8961120" cy="92315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sz="4400" dirty="0"/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257954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13" y="254587"/>
            <a:ext cx="6400800" cy="1828800"/>
          </a:xfrm>
        </p:spPr>
        <p:txBody>
          <a:bodyPr/>
          <a:lstStyle/>
          <a:p>
            <a:r>
              <a:rPr lang="en-US" sz="6600" dirty="0">
                <a:latin typeface="Segoe UI"/>
              </a:rPr>
              <a:t>CHAPTER 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13" y="2279330"/>
            <a:ext cx="6999514" cy="2288722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dirty="0">
                <a:cs typeface="Arial"/>
              </a:rPr>
              <a:t>Identify useful technology tools at Louisiana Tech and other reliable sources.</a:t>
            </a:r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Utilize technology for email, course management, student information, and academic activity. </a:t>
            </a:r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Demonstrate an understanding of appropriate use of technology.</a:t>
            </a:r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Employ media literacy in the use of technology for personal and academic pursuits. </a:t>
            </a:r>
            <a:endParaRPr lang="en-US" dirty="0"/>
          </a:p>
          <a:p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0B9689-7055-4C10-A2BF-B8D77058757E}"/>
              </a:ext>
            </a:extLst>
          </p:cNvPr>
          <p:cNvSpPr txBox="1"/>
          <p:nvPr/>
        </p:nvSpPr>
        <p:spPr>
          <a:xfrm>
            <a:off x="484610" y="5350769"/>
            <a:ext cx="38831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The Computing Center &amp; Help Desk is located in the basement of Wyly Tower with student access through the exterior door (pictured above) located on quad-side entrance to Wyly Tower.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E4067CA-7139-44F8-99F9-AE5F3A40F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10" y="526327"/>
            <a:ext cx="9144579" cy="1020298"/>
          </a:xfrm>
        </p:spPr>
        <p:txBody>
          <a:bodyPr/>
          <a:lstStyle/>
          <a:p>
            <a:r>
              <a:rPr lang="en-US" sz="8000" dirty="0">
                <a:latin typeface="Segoe UI"/>
              </a:rPr>
              <a:t>THE IT HELP DESK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357E8-DDF2-4247-8C16-5D324B1080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073707" y="1198693"/>
            <a:ext cx="3282418" cy="446061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/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BBA9875C-10A1-451B-B831-FA91FF00FEA5}"/>
              </a:ext>
            </a:extLst>
          </p:cNvPr>
          <p:cNvSpPr>
            <a:spLocks noGrp="1"/>
          </p:cNvSpPr>
          <p:nvPr/>
        </p:nvSpPr>
        <p:spPr>
          <a:xfrm>
            <a:off x="5398362" y="2290650"/>
            <a:ext cx="4303253" cy="3292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1600" dirty="0">
                <a:solidFill>
                  <a:schemeClr val="accent2"/>
                </a:solidFill>
                <a:latin typeface="Segoe UI"/>
              </a:rPr>
              <a:t>The Helpdesk can provide information and technical assistance for:</a:t>
            </a:r>
          </a:p>
          <a:p>
            <a:pPr marL="285750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accent2"/>
                </a:solidFill>
                <a:latin typeface="Segoe UI"/>
              </a:rPr>
              <a:t>User Accounts</a:t>
            </a:r>
          </a:p>
          <a:p>
            <a:pPr marL="285750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accent2"/>
                </a:solidFill>
                <a:latin typeface="Segoe UI"/>
              </a:rPr>
              <a:t>Campus Wi-Fi</a:t>
            </a:r>
          </a:p>
          <a:p>
            <a:pPr marL="285750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accent2"/>
                </a:solidFill>
                <a:latin typeface="Segoe UI"/>
              </a:rPr>
              <a:t>Email</a:t>
            </a:r>
          </a:p>
          <a:p>
            <a:pPr marL="285750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accent2"/>
                </a:solidFill>
                <a:latin typeface="Segoe UI"/>
              </a:rPr>
              <a:t>Computer Labs</a:t>
            </a:r>
          </a:p>
          <a:p>
            <a:pPr marL="285750" indent="-285750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chemeClr val="accent2"/>
                </a:solidFill>
                <a:latin typeface="Segoe UI"/>
              </a:rPr>
              <a:t>Online Technology Resources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21D7DAC8-3B69-4ABE-958F-8644AA5307E6}"/>
              </a:ext>
            </a:extLst>
          </p:cNvPr>
          <p:cNvSpPr>
            <a:spLocks noGrp="1"/>
          </p:cNvSpPr>
          <p:nvPr/>
        </p:nvSpPr>
        <p:spPr>
          <a:xfrm>
            <a:off x="5331936" y="5658680"/>
            <a:ext cx="4436104" cy="557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spcBef>
                <a:spcPts val="2400"/>
              </a:spcBef>
            </a:pPr>
            <a:r>
              <a:rPr lang="en-US" sz="1600" dirty="0">
                <a:solidFill>
                  <a:schemeClr val="accent2"/>
                </a:solidFill>
                <a:latin typeface="Segoe UI"/>
              </a:rPr>
              <a:t>Contact the Helpdesk at 318.257.5300 or by email at helpdesk@latech.edu</a:t>
            </a:r>
          </a:p>
        </p:txBody>
      </p:sp>
    </p:spTree>
    <p:extLst>
      <p:ext uri="{BB962C8B-B14F-4D97-AF65-F5344CB8AC3E}">
        <p14:creationId xmlns:p14="http://schemas.microsoft.com/office/powerpoint/2010/main" val="197848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9" y="143192"/>
            <a:ext cx="10002589" cy="1624062"/>
          </a:xfrm>
        </p:spPr>
        <p:txBody>
          <a:bodyPr anchor="ctr"/>
          <a:lstStyle/>
          <a:p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COMPUTER LABS &amp;</a:t>
            </a:r>
            <a:b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6000" dirty="0">
                <a:latin typeface="Segoe UI" panose="020B0502040204020203" pitchFamily="34" charset="0"/>
                <a:cs typeface="Segoe UI" panose="020B0502040204020203" pitchFamily="34" charset="0"/>
              </a:rPr>
              <a:t>PRINT STATIONS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1818B56-19AD-4603-A8CB-295BC4A2EEE7}"/>
              </a:ext>
            </a:extLst>
          </p:cNvPr>
          <p:cNvSpPr>
            <a:spLocks noGrp="1"/>
          </p:cNvSpPr>
          <p:nvPr/>
        </p:nvSpPr>
        <p:spPr>
          <a:xfrm>
            <a:off x="142969" y="2154116"/>
            <a:ext cx="5163271" cy="40180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dirty="0">
                <a:latin typeface="Segoe UI"/>
              </a:rPr>
              <a:t>PRINT STATIONS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George T. Madison (1</a:t>
            </a:r>
            <a:r>
              <a:rPr lang="en-US" sz="1600" b="0" baseline="30000" dirty="0">
                <a:latin typeface="Segoe UI"/>
              </a:rPr>
              <a:t>st</a:t>
            </a:r>
            <a:r>
              <a:rPr lang="en-US" sz="1600" b="0" dirty="0">
                <a:latin typeface="Segoe UI"/>
              </a:rPr>
              <a:t> Floor SW Entrance)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Prescott Memorial Library (Main &amp; 10</a:t>
            </a:r>
            <a:r>
              <a:rPr lang="en-US" sz="1600" b="0" baseline="30000" dirty="0">
                <a:latin typeface="Segoe UI"/>
              </a:rPr>
              <a:t>th</a:t>
            </a:r>
            <a:r>
              <a:rPr lang="en-US" sz="1600" b="0" dirty="0">
                <a:latin typeface="Segoe UI"/>
              </a:rPr>
              <a:t> Floor)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College of Business Building (Room 104 &amp; 106)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Integrated Eng. &amp; Science Building (1</a:t>
            </a:r>
            <a:r>
              <a:rPr lang="en-US" sz="1600" b="0" baseline="30000" dirty="0">
                <a:latin typeface="Segoe UI"/>
              </a:rPr>
              <a:t>st</a:t>
            </a:r>
            <a:r>
              <a:rPr lang="en-US" sz="1600" b="0" dirty="0">
                <a:latin typeface="Segoe UI"/>
              </a:rPr>
              <a:t> Floor)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 err="1">
                <a:latin typeface="Segoe UI"/>
              </a:rPr>
              <a:t>Nethken</a:t>
            </a:r>
            <a:r>
              <a:rPr lang="en-US" sz="1600" b="0" dirty="0">
                <a:latin typeface="Segoe UI"/>
              </a:rPr>
              <a:t> Hall (1</a:t>
            </a:r>
            <a:r>
              <a:rPr lang="en-US" sz="1600" b="0" baseline="30000" dirty="0">
                <a:latin typeface="Segoe UI"/>
              </a:rPr>
              <a:t>st</a:t>
            </a:r>
            <a:r>
              <a:rPr lang="en-US" sz="1600" b="0" dirty="0">
                <a:latin typeface="Segoe UI"/>
              </a:rPr>
              <a:t> Floor – Room 142)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 err="1">
                <a:latin typeface="Segoe UI"/>
              </a:rPr>
              <a:t>Bogard</a:t>
            </a:r>
            <a:r>
              <a:rPr lang="en-US" sz="1600" b="0" dirty="0">
                <a:latin typeface="Segoe UI"/>
              </a:rPr>
              <a:t> Hall (3</a:t>
            </a:r>
            <a:r>
              <a:rPr lang="en-US" sz="1600" b="0" baseline="30000" dirty="0">
                <a:latin typeface="Segoe UI"/>
              </a:rPr>
              <a:t>rd</a:t>
            </a:r>
            <a:r>
              <a:rPr lang="en-US" sz="1600" b="0" dirty="0">
                <a:latin typeface="Segoe UI"/>
              </a:rPr>
              <a:t> Floor – Room 322)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Carson-Taylor Hall (1</a:t>
            </a:r>
            <a:r>
              <a:rPr lang="en-US" sz="1600" b="0" baseline="30000" dirty="0">
                <a:latin typeface="Segoe UI"/>
              </a:rPr>
              <a:t>st</a:t>
            </a:r>
            <a:r>
              <a:rPr lang="en-US" sz="1600" b="0" dirty="0">
                <a:latin typeface="Segoe UI"/>
              </a:rPr>
              <a:t> Floor)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Howard Auditorium (3</a:t>
            </a:r>
            <a:r>
              <a:rPr lang="en-US" sz="1600" b="0" baseline="30000" dirty="0">
                <a:latin typeface="Segoe UI"/>
              </a:rPr>
              <a:t>rd</a:t>
            </a:r>
            <a:r>
              <a:rPr lang="en-US" sz="1600" b="0" dirty="0">
                <a:latin typeface="Segoe UI"/>
              </a:rPr>
              <a:t> Floor – Music Wing)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Tolliver Hall (Near Centennial Plaza Exit)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Woodard Hall (Student Lounge – Room 130A)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Segoe UI"/>
              </a:rPr>
              <a:t>Memorial Gym (2</a:t>
            </a:r>
            <a:r>
              <a:rPr lang="en-US" sz="1600" b="0" baseline="30000" dirty="0">
                <a:latin typeface="Segoe UI"/>
              </a:rPr>
              <a:t>nd</a:t>
            </a:r>
            <a:r>
              <a:rPr lang="en-US" sz="1600" b="0" dirty="0">
                <a:latin typeface="Segoe UI"/>
              </a:rPr>
              <a:t> Floor – Room 219)</a:t>
            </a:r>
            <a:endParaRPr lang="en-US" sz="1600" dirty="0">
              <a:latin typeface="Segoe UI"/>
            </a:endParaRP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>
              <a:latin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094B8B-E09D-4D4F-A558-DD9D57398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430" y="955223"/>
            <a:ext cx="5163271" cy="3343742"/>
          </a:xfrm>
          <a:prstGeom prst="rect">
            <a:avLst/>
          </a:prstGeom>
          <a:ln w="38100" cap="sq">
            <a:solidFill>
              <a:srgbClr val="CB333B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2B3FE99-237F-4F4C-B5E7-87F6CC5FD589}"/>
              </a:ext>
            </a:extLst>
          </p:cNvPr>
          <p:cNvSpPr/>
          <p:nvPr/>
        </p:nvSpPr>
        <p:spPr>
          <a:xfrm>
            <a:off x="5509846" y="4647752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>
                <a:solidFill>
                  <a:schemeClr val="bg1"/>
                </a:solidFill>
              </a:rPr>
              <a:t>COMPUTER LABS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Student Center/TONK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Prescott Memorial Library (Main Floor)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Memorial Gym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Woodard Hall </a:t>
            </a:r>
          </a:p>
        </p:txBody>
      </p:sp>
    </p:spTree>
    <p:extLst>
      <p:ext uri="{BB962C8B-B14F-4D97-AF65-F5344CB8AC3E}">
        <p14:creationId xmlns:p14="http://schemas.microsoft.com/office/powerpoint/2010/main" val="119822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9CCD4CC-4BBC-4EE9-AF03-8D897249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684" y="427100"/>
            <a:ext cx="8097715" cy="1353646"/>
          </a:xfrm>
        </p:spPr>
        <p:txBody>
          <a:bodyPr anchor="ctr"/>
          <a:lstStyle/>
          <a:p>
            <a:r>
              <a:rPr lang="en-US" sz="7200" dirty="0">
                <a:latin typeface="Segoe UI" panose="020B0502040204020203" pitchFamily="34" charset="0"/>
                <a:cs typeface="Segoe UI" panose="020B0502040204020203" pitchFamily="34" charset="0"/>
              </a:rPr>
              <a:t>REMOTE PRINTER STATIONS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BB8D0AF-06CD-43FF-B424-96FF00FED586}"/>
              </a:ext>
            </a:extLst>
          </p:cNvPr>
          <p:cNvSpPr txBox="1">
            <a:spLocks/>
          </p:cNvSpPr>
          <p:nvPr/>
        </p:nvSpPr>
        <p:spPr>
          <a:xfrm>
            <a:off x="4378569" y="2461847"/>
            <a:ext cx="7603346" cy="321309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cs typeface="Arial"/>
              </a:rPr>
              <a:t>To print using one of the remote printer labs:</a:t>
            </a:r>
          </a:p>
          <a:p>
            <a:pPr marL="914400"/>
            <a:r>
              <a:rPr lang="en-US" sz="2800" dirty="0">
                <a:cs typeface="Arial"/>
              </a:rPr>
              <a:t>Navigate to </a:t>
            </a:r>
            <a:r>
              <a:rPr lang="en-US" sz="2800" dirty="0">
                <a:cs typeface="Arial"/>
                <a:hlinkClick r:id="rId3"/>
              </a:rPr>
              <a:t>print.latech.edu</a:t>
            </a:r>
            <a:endParaRPr lang="en-US" sz="2800" dirty="0">
              <a:cs typeface="Arial"/>
            </a:endParaRPr>
          </a:p>
          <a:p>
            <a:pPr marL="914400"/>
            <a:r>
              <a:rPr lang="en-US" sz="2800" dirty="0">
                <a:cs typeface="Arial"/>
              </a:rPr>
              <a:t>Log-in using Tech username</a:t>
            </a:r>
          </a:p>
          <a:p>
            <a:pPr marL="914400"/>
            <a:r>
              <a:rPr lang="en-US" sz="2800" dirty="0">
                <a:cs typeface="Arial"/>
              </a:rPr>
              <a:t>Select “Web Print” &gt; “Submit a Job”</a:t>
            </a:r>
          </a:p>
          <a:p>
            <a:pPr marL="914400"/>
            <a:r>
              <a:rPr lang="en-US" sz="2800" dirty="0">
                <a:cs typeface="Arial"/>
              </a:rPr>
              <a:t>Select a Print Location</a:t>
            </a:r>
          </a:p>
          <a:p>
            <a:pPr marL="914400"/>
            <a:r>
              <a:rPr lang="en-US" sz="2800" dirty="0">
                <a:cs typeface="Arial"/>
              </a:rPr>
              <a:t>Upload Your Document</a:t>
            </a:r>
          </a:p>
          <a:p>
            <a:pPr marL="0" indent="0">
              <a:buNone/>
            </a:pPr>
            <a:endParaRPr lang="en-US" sz="4000" dirty="0">
              <a:cs typeface="Arial"/>
            </a:endParaRPr>
          </a:p>
          <a:p>
            <a:pPr algn="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0FD475-2085-4747-A3FC-A6644FE491A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937" y="2340298"/>
            <a:ext cx="3170534" cy="4337539"/>
          </a:xfrm>
          <a:prstGeom prst="rect">
            <a:avLst/>
          </a:prstGeom>
          <a:ln w="38100">
            <a:solidFill>
              <a:srgbClr val="CB333B"/>
            </a:solidFill>
          </a:ln>
        </p:spPr>
      </p:pic>
    </p:spTree>
    <p:extLst>
      <p:ext uri="{BB962C8B-B14F-4D97-AF65-F5344CB8AC3E}">
        <p14:creationId xmlns:p14="http://schemas.microsoft.com/office/powerpoint/2010/main" val="366128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162" y="269984"/>
            <a:ext cx="8442536" cy="978986"/>
          </a:xfrm>
        </p:spPr>
        <p:txBody>
          <a:bodyPr anchor="b"/>
          <a:lstStyle/>
          <a:p>
            <a:r>
              <a:rPr lang="en-US" sz="6600" dirty="0"/>
              <a:t>CAMPUS EMAIL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FA0680B-04E0-49BA-9B69-228A5C82BB4B}"/>
              </a:ext>
            </a:extLst>
          </p:cNvPr>
          <p:cNvSpPr txBox="1">
            <a:spLocks/>
          </p:cNvSpPr>
          <p:nvPr/>
        </p:nvSpPr>
        <p:spPr>
          <a:xfrm>
            <a:off x="408162" y="1262982"/>
            <a:ext cx="8958069" cy="5533934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accent4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dirty="0">
                <a:solidFill>
                  <a:schemeClr val="bg1"/>
                </a:solidFill>
                <a:latin typeface="Segoe UI"/>
              </a:rPr>
              <a:t>All students have access to their campus email (</a:t>
            </a:r>
            <a:r>
              <a:rPr lang="en-US" sz="1800" b="0" dirty="0">
                <a:solidFill>
                  <a:schemeClr val="bg1"/>
                </a:solidFill>
                <a:latin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abc123@latech.edu</a:t>
            </a:r>
            <a:r>
              <a:rPr lang="en-US" sz="1800" b="0" dirty="0">
                <a:solidFill>
                  <a:schemeClr val="bg1"/>
                </a:solidFill>
                <a:latin typeface="Segoe UI"/>
              </a:rPr>
              <a:t>) through </a:t>
            </a:r>
            <a:r>
              <a:rPr lang="en-US" sz="1800" b="0" dirty="0">
                <a:solidFill>
                  <a:schemeClr val="bg1"/>
                </a:solidFill>
                <a:latin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gmail.latech.edu</a:t>
            </a:r>
            <a:r>
              <a:rPr lang="en-US" sz="1800" b="0" dirty="0">
                <a:solidFill>
                  <a:schemeClr val="bg1"/>
                </a:solidFill>
                <a:latin typeface="Segoe UI"/>
              </a:rPr>
              <a:t>. Email is the primary means of communication with your professors and university departments.  Be sure to follow appropriate email etiquette (p. 34) when communicating with an instructor.  </a:t>
            </a:r>
          </a:p>
          <a:p>
            <a:endParaRPr lang="en-US" sz="1800" b="0" dirty="0">
              <a:solidFill>
                <a:schemeClr val="bg1"/>
              </a:solidFill>
              <a:latin typeface="Segoe UI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Use your university email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Address your professor directly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Make sure your first sentence identifies who you are by name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Be sure to include a meaningful subject line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Be polite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Be succinct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Be specific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If you’re going to have to miss class..</a:t>
            </a:r>
            <a:r>
              <a:rPr lang="en-US" sz="2000" b="0" dirty="0">
                <a:solidFill>
                  <a:schemeClr val="bg1"/>
                </a:solidFill>
                <a:latin typeface="+mn-lt"/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Close your email politely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Grammar and spell check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  <a:p>
            <a:pPr marL="342900" indent="-342900">
              <a:buChar char="•"/>
            </a:pPr>
            <a:endParaRPr lang="en-US" dirty="0">
              <a:solidFill>
                <a:srgbClr val="003087"/>
              </a:solidFill>
              <a:latin typeface="Segoe UI"/>
            </a:endParaRPr>
          </a:p>
          <a:p>
            <a:endParaRPr lang="en-US" sz="2000" dirty="0">
              <a:latin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6707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162" y="269984"/>
            <a:ext cx="8442536" cy="978986"/>
          </a:xfrm>
        </p:spPr>
        <p:txBody>
          <a:bodyPr anchor="b"/>
          <a:lstStyle/>
          <a:p>
            <a:r>
              <a:rPr lang="en-US" sz="6600" dirty="0"/>
              <a:t>EMAIL ETIQUETTE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DDF866-241B-47C2-BD6A-C34E01DB9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23" y="2047419"/>
            <a:ext cx="10969506" cy="2943998"/>
          </a:xfrm>
          <a:prstGeom prst="rect">
            <a:avLst/>
          </a:prstGeom>
          <a:ln w="38100">
            <a:solidFill>
              <a:srgbClr val="CB333B"/>
            </a:solidFill>
          </a:ln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12A26EA-FFF4-43DA-BA74-9BD81413C4B7}"/>
              </a:ext>
            </a:extLst>
          </p:cNvPr>
          <p:cNvSpPr txBox="1">
            <a:spLocks/>
          </p:cNvSpPr>
          <p:nvPr/>
        </p:nvSpPr>
        <p:spPr>
          <a:xfrm>
            <a:off x="1682099" y="5789867"/>
            <a:ext cx="8463998" cy="50995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accent4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solidFill>
                  <a:schemeClr val="bg1"/>
                </a:solidFill>
                <a:latin typeface="Segoe UI"/>
              </a:rPr>
              <a:t>Following the Email Etiquette 101 tips found on page 34, complete activity 4.1 (example above).</a:t>
            </a:r>
            <a:endParaRPr lang="en-US" dirty="0">
              <a:solidFill>
                <a:schemeClr val="bg1"/>
              </a:solidFill>
              <a:latin typeface="Segoe UI"/>
            </a:endParaRPr>
          </a:p>
          <a:p>
            <a:pPr algn="ctr"/>
            <a:endParaRPr lang="en-US" sz="2000" dirty="0">
              <a:latin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57506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15" y="137977"/>
            <a:ext cx="10427677" cy="1001874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IMPORTANT WEBSITES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98403-927F-404F-979E-DB320DBEF1C7}"/>
              </a:ext>
            </a:extLst>
          </p:cNvPr>
          <p:cNvSpPr txBox="1"/>
          <p:nvPr/>
        </p:nvSpPr>
        <p:spPr>
          <a:xfrm>
            <a:off x="2697772" y="919589"/>
            <a:ext cx="5987561" cy="600164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OFFICE 365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STAR REZ HOUSING PORTAL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CANVAS</a:t>
            </a:r>
          </a:p>
          <a:p>
            <a:pPr algn="ctr"/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NET PARTNER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HANDSHAKE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ACADEMIC WORKS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FB3435-45C5-4478-B7D1-4C0758FDB6A3}"/>
              </a:ext>
            </a:extLst>
          </p:cNvPr>
          <p:cNvSpPr/>
          <p:nvPr/>
        </p:nvSpPr>
        <p:spPr>
          <a:xfrm>
            <a:off x="2882664" y="1362917"/>
            <a:ext cx="5625584" cy="5849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3087"/>
                </a:solidFill>
              </a:rPr>
              <a:t>Cloud-based Microsoft Office Suite applications available online and accessible from any device.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858AF0-D8EF-45E5-BEBE-05CCB080BE5F}"/>
              </a:ext>
            </a:extLst>
          </p:cNvPr>
          <p:cNvSpPr/>
          <p:nvPr/>
        </p:nvSpPr>
        <p:spPr>
          <a:xfrm>
            <a:off x="2882664" y="3317899"/>
            <a:ext cx="5625582" cy="584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3087"/>
                </a:solidFill>
              </a:rPr>
              <a:t>The Learning Management System for all Louisiana Tech classes.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0C86AB-929A-48B3-B8CC-0CFB38FA7B16}"/>
              </a:ext>
            </a:extLst>
          </p:cNvPr>
          <p:cNvSpPr/>
          <p:nvPr/>
        </p:nvSpPr>
        <p:spPr>
          <a:xfrm>
            <a:off x="2882663" y="2345078"/>
            <a:ext cx="5625583" cy="584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3087"/>
                </a:solidFill>
              </a:rPr>
              <a:t>The on-campus Housing Application and Meal Plan Selection web portal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DAA444-47F4-47A0-97C6-7E03F5B493F0}"/>
              </a:ext>
            </a:extLst>
          </p:cNvPr>
          <p:cNvSpPr/>
          <p:nvPr/>
        </p:nvSpPr>
        <p:spPr>
          <a:xfrm>
            <a:off x="2874862" y="4292614"/>
            <a:ext cx="5633383" cy="584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3087"/>
                </a:solidFill>
              </a:rPr>
              <a:t>Official Financial Aid portal for Louisiana Tech students. Manage your documents, accept your aid, and more.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6D1497-727E-4E86-8FAC-A5097E1C7CC3}"/>
              </a:ext>
            </a:extLst>
          </p:cNvPr>
          <p:cNvSpPr/>
          <p:nvPr/>
        </p:nvSpPr>
        <p:spPr>
          <a:xfrm>
            <a:off x="2874863" y="5264900"/>
            <a:ext cx="5633382" cy="584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3087"/>
                </a:solidFill>
              </a:rPr>
              <a:t>The Career Center’s management system for job posting board and employer partner information.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410D47-B716-430F-83AF-3938F8DA21CB}"/>
              </a:ext>
            </a:extLst>
          </p:cNvPr>
          <p:cNvSpPr/>
          <p:nvPr/>
        </p:nvSpPr>
        <p:spPr>
          <a:xfrm>
            <a:off x="2882663" y="6241210"/>
            <a:ext cx="5633381" cy="584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3087"/>
                </a:solidFill>
              </a:rPr>
              <a:t>Louisiana Tech’s Online Scholarship System. </a:t>
            </a:r>
          </a:p>
        </p:txBody>
      </p:sp>
    </p:spTree>
    <p:extLst>
      <p:ext uri="{BB962C8B-B14F-4D97-AF65-F5344CB8AC3E}">
        <p14:creationId xmlns:p14="http://schemas.microsoft.com/office/powerpoint/2010/main" val="60630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7">
            <a:extLst>
              <a:ext uri="{FF2B5EF4-FFF2-40B4-BE49-F238E27FC236}">
                <a16:creationId xmlns:a16="http://schemas.microsoft.com/office/drawing/2014/main" id="{D3641F9A-6686-48BF-ABA0-33D84092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28" y="251928"/>
            <a:ext cx="10941943" cy="926242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TECHNOLOGY AND SAFETY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40CDBB-C3BD-4C72-8F82-F1B2177E156B}"/>
              </a:ext>
            </a:extLst>
          </p:cNvPr>
          <p:cNvSpPr txBox="1">
            <a:spLocks/>
          </p:cNvSpPr>
          <p:nvPr/>
        </p:nvSpPr>
        <p:spPr>
          <a:xfrm>
            <a:off x="3253152" y="1178170"/>
            <a:ext cx="8590085" cy="532813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 err="1">
                <a:cs typeface="Arial"/>
              </a:rPr>
              <a:t>SafeDog</a:t>
            </a:r>
            <a:r>
              <a:rPr lang="en-US" sz="3600" b="1" dirty="0">
                <a:cs typeface="Arial"/>
              </a:rPr>
              <a:t> App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b="1" dirty="0">
                <a:cs typeface="Arial"/>
              </a:rPr>
              <a:t>Emergency Notification System </a:t>
            </a:r>
            <a:r>
              <a:rPr lang="en-US" sz="3600" dirty="0">
                <a:cs typeface="Arial"/>
              </a:rPr>
              <a:t>(sign-up through Workday Student)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dirty="0">
                <a:cs typeface="Arial"/>
              </a:rPr>
              <a:t>Be careful what you post on </a:t>
            </a:r>
            <a:r>
              <a:rPr lang="en-US" sz="3600" b="1" dirty="0">
                <a:cs typeface="Arial"/>
              </a:rPr>
              <a:t>Social Media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3600" dirty="0">
                <a:cs typeface="Arial"/>
              </a:rPr>
              <a:t>Recognizing and Avoiding </a:t>
            </a:r>
            <a:r>
              <a:rPr lang="en-US" sz="3600" b="1" dirty="0">
                <a:cs typeface="Arial"/>
              </a:rPr>
              <a:t>Scams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E0EB39-7AA1-4B76-911E-17B0144CA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3" y="1178170"/>
            <a:ext cx="2499577" cy="54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2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6A706C-E88E-4652-9A16-93203FDBBE39}"/>
              </a:ext>
            </a:extLst>
          </p:cNvPr>
          <p:cNvSpPr/>
          <p:nvPr/>
        </p:nvSpPr>
        <p:spPr>
          <a:xfrm>
            <a:off x="181752" y="376520"/>
            <a:ext cx="11655142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600"/>
              </a:spcBef>
              <a:spcAft>
                <a:spcPts val="0"/>
              </a:spcAft>
            </a:pPr>
            <a:r>
              <a:rPr lang="en-US" sz="44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phishing message is designed to trick you </a:t>
            </a:r>
          </a:p>
          <a:p>
            <a:pPr marR="0" lvl="0">
              <a:spcBef>
                <a:spcPts val="600"/>
              </a:spcBef>
              <a:spcAft>
                <a:spcPts val="0"/>
              </a:spcAft>
            </a:pPr>
            <a:r>
              <a:rPr lang="en-US" sz="44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into doing one of these four things.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F89A89-28C1-4677-B680-191EAD848F3E}"/>
              </a:ext>
            </a:extLst>
          </p:cNvPr>
          <p:cNvSpPr/>
          <p:nvPr/>
        </p:nvSpPr>
        <p:spPr>
          <a:xfrm>
            <a:off x="0" y="2536884"/>
            <a:ext cx="12192000" cy="2671986"/>
          </a:xfrm>
          <a:prstGeom prst="rect">
            <a:avLst/>
          </a:prstGeom>
          <a:solidFill>
            <a:schemeClr val="accent4">
              <a:lumMod val="90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0E99EA-E5DD-4EAD-8134-CB2EAE9B8BC3}"/>
              </a:ext>
            </a:extLst>
          </p:cNvPr>
          <p:cNvSpPr/>
          <p:nvPr/>
        </p:nvSpPr>
        <p:spPr>
          <a:xfrm>
            <a:off x="6656270" y="2978946"/>
            <a:ext cx="2036132" cy="450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F0E7CA-606F-48AC-BF6F-23753CDA7359}"/>
              </a:ext>
            </a:extLst>
          </p:cNvPr>
          <p:cNvSpPr/>
          <p:nvPr/>
        </p:nvSpPr>
        <p:spPr>
          <a:xfrm>
            <a:off x="6656270" y="4121946"/>
            <a:ext cx="2036132" cy="450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************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E7A4EB-2326-48E9-9121-44150326ECA5}"/>
              </a:ext>
            </a:extLst>
          </p:cNvPr>
          <p:cNvSpPr/>
          <p:nvPr/>
        </p:nvSpPr>
        <p:spPr>
          <a:xfrm>
            <a:off x="383542" y="2943650"/>
            <a:ext cx="2154455" cy="4536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u="sng" dirty="0">
                <a:solidFill>
                  <a:srgbClr val="0107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Click Here!</a:t>
            </a:r>
          </a:p>
        </p:txBody>
      </p:sp>
      <p:pic>
        <p:nvPicPr>
          <p:cNvPr id="19" name="Picture 2" descr="File:Pointing hand cursor vector.svg">
            <a:extLst>
              <a:ext uri="{FF2B5EF4-FFF2-40B4-BE49-F238E27FC236}">
                <a16:creationId xmlns:a16="http://schemas.microsoft.com/office/drawing/2014/main" id="{619E73A8-6C14-4D5A-9ADC-DD49CE945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5033" y="3172739"/>
            <a:ext cx="2484684" cy="180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4E4D95D-2586-4CEC-9C43-7A02C426BBAE}"/>
              </a:ext>
            </a:extLst>
          </p:cNvPr>
          <p:cNvSpPr/>
          <p:nvPr/>
        </p:nvSpPr>
        <p:spPr>
          <a:xfrm>
            <a:off x="292051" y="5489896"/>
            <a:ext cx="2667666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accent3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an</a:t>
            </a:r>
          </a:p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accent3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Unsafe Link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ECDB8A-9102-4CFC-AFA7-8D43F9CD0E86}"/>
              </a:ext>
            </a:extLst>
          </p:cNvPr>
          <p:cNvSpPr/>
          <p:nvPr/>
        </p:nvSpPr>
        <p:spPr>
          <a:xfrm>
            <a:off x="3383581" y="5489896"/>
            <a:ext cx="2665844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accent3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an</a:t>
            </a:r>
          </a:p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accent3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Unsafe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F63CA2-4ED1-431F-937B-73425E7EA27C}"/>
              </a:ext>
            </a:extLst>
          </p:cNvPr>
          <p:cNvSpPr/>
          <p:nvPr/>
        </p:nvSpPr>
        <p:spPr>
          <a:xfrm>
            <a:off x="6186353" y="5489896"/>
            <a:ext cx="2779525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 your</a:t>
            </a:r>
          </a:p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145AB26-B5D2-4E61-95C6-5A2D451B0B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9928" y="2835166"/>
            <a:ext cx="2036131" cy="203613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D525163-3F8A-4C7A-8A9B-5DE876AC4BEB}"/>
              </a:ext>
            </a:extLst>
          </p:cNvPr>
          <p:cNvSpPr/>
          <p:nvPr/>
        </p:nvSpPr>
        <p:spPr>
          <a:xfrm>
            <a:off x="8965878" y="5489895"/>
            <a:ext cx="2779525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Transfer</a:t>
            </a:r>
          </a:p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18EDC5-5333-4B03-BB4F-C8E6C8F55E3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1674" y="2973266"/>
            <a:ext cx="1935567" cy="156538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D8EC503-6ACB-4BA6-B31D-C9032D78C4E6}"/>
              </a:ext>
            </a:extLst>
          </p:cNvPr>
          <p:cNvSpPr/>
          <p:nvPr/>
        </p:nvSpPr>
        <p:spPr>
          <a:xfrm>
            <a:off x="292051" y="5507152"/>
            <a:ext cx="2667666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an</a:t>
            </a:r>
          </a:p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Unsafe Link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06CA18-358D-4944-B77A-628B805ABE4E}"/>
              </a:ext>
            </a:extLst>
          </p:cNvPr>
          <p:cNvSpPr/>
          <p:nvPr/>
        </p:nvSpPr>
        <p:spPr>
          <a:xfrm>
            <a:off x="3383581" y="5507152"/>
            <a:ext cx="2665844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an</a:t>
            </a:r>
          </a:p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Unsafe File</a:t>
            </a:r>
          </a:p>
        </p:txBody>
      </p:sp>
    </p:spTree>
    <p:extLst>
      <p:ext uri="{BB962C8B-B14F-4D97-AF65-F5344CB8AC3E}">
        <p14:creationId xmlns:p14="http://schemas.microsoft.com/office/powerpoint/2010/main" val="386757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350424-75BD-48B8-9325-802512EC262E}"/>
              </a:ext>
            </a:extLst>
          </p:cNvPr>
          <p:cNvSpPr/>
          <p:nvPr/>
        </p:nvSpPr>
        <p:spPr>
          <a:xfrm>
            <a:off x="1" y="2312377"/>
            <a:ext cx="12192000" cy="4479998"/>
          </a:xfrm>
          <a:prstGeom prst="rect">
            <a:avLst/>
          </a:prstGeom>
          <a:solidFill>
            <a:schemeClr val="accent4">
              <a:lumMod val="90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CB1C7E-0BE5-495A-A6C6-79895E7C0EF6}"/>
              </a:ext>
            </a:extLst>
          </p:cNvPr>
          <p:cNvSpPr/>
          <p:nvPr/>
        </p:nvSpPr>
        <p:spPr>
          <a:xfrm>
            <a:off x="272325" y="175564"/>
            <a:ext cx="919427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600"/>
              </a:spcBef>
              <a:spcAft>
                <a:spcPts val="0"/>
              </a:spcAft>
            </a:pPr>
            <a:r>
              <a:rPr lang="en-US" sz="44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Phishing messages are designed to get you to react quickly without thinking too much.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8E41A0-CFCC-4EAD-95DF-58844E2506BE}"/>
              </a:ext>
            </a:extLst>
          </p:cNvPr>
          <p:cNvSpPr/>
          <p:nvPr/>
        </p:nvSpPr>
        <p:spPr>
          <a:xfrm>
            <a:off x="467715" y="3875428"/>
            <a:ext cx="25139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Sense of Urgency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219462-1E4D-4D7E-8E4B-5C750482E995}"/>
              </a:ext>
            </a:extLst>
          </p:cNvPr>
          <p:cNvSpPr/>
          <p:nvPr/>
        </p:nvSpPr>
        <p:spPr>
          <a:xfrm>
            <a:off x="4630167" y="3875428"/>
            <a:ext cx="2903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Offers of Money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897A7D-91CA-49C7-BEF6-22232BF1D3FD}"/>
              </a:ext>
            </a:extLst>
          </p:cNvPr>
          <p:cNvSpPr/>
          <p:nvPr/>
        </p:nvSpPr>
        <p:spPr>
          <a:xfrm>
            <a:off x="9663457" y="6054401"/>
            <a:ext cx="21834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Support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9E20B-0CD0-49DF-B8B2-E1BB707F2C99}"/>
              </a:ext>
            </a:extLst>
          </p:cNvPr>
          <p:cNvSpPr/>
          <p:nvPr/>
        </p:nvSpPr>
        <p:spPr>
          <a:xfrm>
            <a:off x="4633097" y="6054401"/>
            <a:ext cx="2903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Rewards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4A8FF1-27C1-45B1-8FFE-39B0E46728F4}"/>
              </a:ext>
            </a:extLst>
          </p:cNvPr>
          <p:cNvSpPr/>
          <p:nvPr/>
        </p:nvSpPr>
        <p:spPr>
          <a:xfrm>
            <a:off x="9194582" y="3875428"/>
            <a:ext cx="2903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Confirmations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482A5D-53FF-45B5-BCA8-D22BA88CD1A3}"/>
              </a:ext>
            </a:extLst>
          </p:cNvPr>
          <p:cNvSpPr/>
          <p:nvPr/>
        </p:nvSpPr>
        <p:spPr>
          <a:xfrm>
            <a:off x="272325" y="6054401"/>
            <a:ext cx="29033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Odd</a:t>
            </a:r>
            <a:r>
              <a:rPr lang="en-US" sz="2000" b="1" dirty="0">
                <a:solidFill>
                  <a:srgbClr val="003087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ED9EDED-B116-4D72-98E3-2FA36C0FD0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161" y="2527220"/>
            <a:ext cx="1459056" cy="15482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7179B3-C616-4EDA-8514-A783D9C21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3539" y="2772315"/>
            <a:ext cx="1032299" cy="10580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679B616-599D-4AAD-87F5-E68D0C8DB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2668" y="4658115"/>
            <a:ext cx="1248474" cy="13248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2E166A-5EF4-464E-8A5B-9C6DB4FB5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1880" y="2561454"/>
            <a:ext cx="1368200" cy="14518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5453FA-BA54-4F56-84F2-722B3481C8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0737" y="4647640"/>
            <a:ext cx="932100" cy="148363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A6DE9EB-946C-4FA3-BB6B-AB07A9C0B52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39539" y="3875428"/>
            <a:ext cx="1139400" cy="87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1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0AAD23-9257-4400-AF7E-58F4B504BFF5}"/>
              </a:ext>
            </a:extLst>
          </p:cNvPr>
          <p:cNvSpPr/>
          <p:nvPr/>
        </p:nvSpPr>
        <p:spPr>
          <a:xfrm>
            <a:off x="262538" y="443575"/>
            <a:ext cx="73574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600"/>
              </a:spcBef>
              <a:spcAft>
                <a:spcPts val="0"/>
              </a:spcAft>
            </a:pPr>
            <a:r>
              <a:rPr lang="en-US" sz="48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happens when I get a phishing email?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5B61C4-8A4B-4B7A-8BA3-D8FF39CA9D16}"/>
              </a:ext>
            </a:extLst>
          </p:cNvPr>
          <p:cNvSpPr/>
          <p:nvPr/>
        </p:nvSpPr>
        <p:spPr>
          <a:xfrm>
            <a:off x="0" y="2415553"/>
            <a:ext cx="12192000" cy="3148237"/>
          </a:xfrm>
          <a:prstGeom prst="rect">
            <a:avLst/>
          </a:prstGeom>
          <a:solidFill>
            <a:schemeClr val="accent4">
              <a:lumMod val="90000"/>
            </a:scheme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3933E1-75A5-4B44-B778-667D2F09FF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667" y="2704774"/>
            <a:ext cx="1096969" cy="239774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4F5124D-38F6-4F94-978A-4219B2EE357C}"/>
              </a:ext>
            </a:extLst>
          </p:cNvPr>
          <p:cNvGrpSpPr/>
          <p:nvPr/>
        </p:nvGrpSpPr>
        <p:grpSpPr>
          <a:xfrm>
            <a:off x="5196582" y="2790797"/>
            <a:ext cx="1947491" cy="2225703"/>
            <a:chOff x="5078077" y="2962841"/>
            <a:chExt cx="1947491" cy="22257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1C45E1C-B6A4-4723-AA74-F541370DD191}"/>
                </a:ext>
              </a:extLst>
            </p:cNvPr>
            <p:cNvGrpSpPr/>
            <p:nvPr/>
          </p:nvGrpSpPr>
          <p:grpSpPr>
            <a:xfrm>
              <a:off x="5220158" y="3083860"/>
              <a:ext cx="1646824" cy="2034298"/>
              <a:chOff x="5093158" y="2808939"/>
              <a:chExt cx="1993900" cy="2379605"/>
            </a:xfrm>
            <a:solidFill>
              <a:schemeClr val="bg1"/>
            </a:solidFill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97CB7BC-72AF-428B-9FA5-C52F2DFDB214}"/>
                  </a:ext>
                </a:extLst>
              </p:cNvPr>
              <p:cNvSpPr/>
              <p:nvPr/>
            </p:nvSpPr>
            <p:spPr>
              <a:xfrm>
                <a:off x="5093158" y="3149600"/>
                <a:ext cx="1993900" cy="3175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2AE03F-33D1-46E6-B912-14EF2BB768A0}"/>
                  </a:ext>
                </a:extLst>
              </p:cNvPr>
              <p:cNvSpPr/>
              <p:nvPr/>
            </p:nvSpPr>
            <p:spPr>
              <a:xfrm>
                <a:off x="5266277" y="3343168"/>
                <a:ext cx="1667923" cy="1845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C72B39-475E-44B6-8CA4-636F8211CCBD}"/>
                  </a:ext>
                </a:extLst>
              </p:cNvPr>
              <p:cNvSpPr/>
              <p:nvPr/>
            </p:nvSpPr>
            <p:spPr>
              <a:xfrm>
                <a:off x="5537658" y="2808939"/>
                <a:ext cx="1079042" cy="36674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C416167-E8AE-4AC3-97FD-71C4FB445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78077" y="2962841"/>
              <a:ext cx="1947491" cy="2225703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0CC086B-5BC7-4ABB-B34E-54B376712A8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9905" y="2912011"/>
            <a:ext cx="2155317" cy="215531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14679E6-769B-40D7-AF03-289699A110A5}"/>
              </a:ext>
            </a:extLst>
          </p:cNvPr>
          <p:cNvSpPr/>
          <p:nvPr/>
        </p:nvSpPr>
        <p:spPr>
          <a:xfrm>
            <a:off x="369319" y="5750004"/>
            <a:ext cx="266766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6600" b="1" dirty="0">
                <a:solidFill>
                  <a:srgbClr val="FFFFFF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62E81F-CA4C-40E5-BBCB-DBFB21E0E5AC}"/>
              </a:ext>
            </a:extLst>
          </p:cNvPr>
          <p:cNvSpPr/>
          <p:nvPr/>
        </p:nvSpPr>
        <p:spPr>
          <a:xfrm>
            <a:off x="4455856" y="5729269"/>
            <a:ext cx="342894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6600" b="1" dirty="0">
                <a:solidFill>
                  <a:srgbClr val="FFFFFF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Delete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A15B36-AAFE-4147-BDF1-AE7E6C475259}"/>
              </a:ext>
            </a:extLst>
          </p:cNvPr>
          <p:cNvSpPr/>
          <p:nvPr/>
        </p:nvSpPr>
        <p:spPr>
          <a:xfrm>
            <a:off x="8393739" y="5660169"/>
            <a:ext cx="342894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>
              <a:spcBef>
                <a:spcPts val="600"/>
              </a:spcBef>
              <a:spcAft>
                <a:spcPts val="0"/>
              </a:spcAft>
            </a:pPr>
            <a:r>
              <a:rPr lang="en-US" sz="6600" b="1" dirty="0">
                <a:solidFill>
                  <a:srgbClr val="FFFFFF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97945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6A706C-E88E-4652-9A16-93203FDBBE39}"/>
              </a:ext>
            </a:extLst>
          </p:cNvPr>
          <p:cNvSpPr/>
          <p:nvPr/>
        </p:nvSpPr>
        <p:spPr>
          <a:xfrm>
            <a:off x="149471" y="427675"/>
            <a:ext cx="64359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600"/>
              </a:spcBef>
              <a:spcAft>
                <a:spcPts val="0"/>
              </a:spcAft>
            </a:pPr>
            <a:r>
              <a:rPr lang="en-US" sz="44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HAPPENS IF I CLICK?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F63CA2-4ED1-431F-937B-73425E7EA27C}"/>
              </a:ext>
            </a:extLst>
          </p:cNvPr>
          <p:cNvSpPr/>
          <p:nvPr/>
        </p:nvSpPr>
        <p:spPr>
          <a:xfrm>
            <a:off x="187571" y="1528514"/>
            <a:ext cx="4196861" cy="2708434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R="0" lvl="0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Password Stolen</a:t>
            </a:r>
          </a:p>
          <a:p>
            <a:pPr marL="457200" marR="0" lvl="0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Identity Theft</a:t>
            </a:r>
          </a:p>
          <a:p>
            <a:pPr marL="457200" marR="0" lvl="0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Leak</a:t>
            </a:r>
          </a:p>
          <a:p>
            <a:pPr marL="457200" marR="0" lvl="0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Destruction</a:t>
            </a:r>
          </a:p>
          <a:p>
            <a:pPr marL="457200" marR="0" lvl="0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Account Takeover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4966CA-26DA-4B1B-9C29-F58B18C0D5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99029" y="427675"/>
            <a:ext cx="5105400" cy="32947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F7F7AD-281E-4E43-97FC-A73C6741D48C}"/>
              </a:ext>
            </a:extLst>
          </p:cNvPr>
          <p:cNvSpPr/>
          <p:nvPr/>
        </p:nvSpPr>
        <p:spPr>
          <a:xfrm>
            <a:off x="3695702" y="1528514"/>
            <a:ext cx="4407877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6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Malware Installed</a:t>
            </a:r>
          </a:p>
          <a:p>
            <a:pPr marL="457200" marR="0" lvl="0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Stolen Password</a:t>
            </a:r>
          </a:p>
          <a:p>
            <a:pPr marL="457200" marR="0" lvl="0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Remote Access</a:t>
            </a:r>
          </a:p>
          <a:p>
            <a:pPr marL="457200" marR="0" lvl="0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Ransomeware</a:t>
            </a:r>
            <a:endParaRPr lang="en-US" sz="3000" dirty="0">
              <a:solidFill>
                <a:schemeClr val="bg1"/>
              </a:solidFill>
              <a:latin typeface="Overpass" panose="020B0503020203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Compromise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4CC08-5396-4DFB-8EA2-A10956736324}"/>
              </a:ext>
            </a:extLst>
          </p:cNvPr>
          <p:cNvSpPr/>
          <p:nvPr/>
        </p:nvSpPr>
        <p:spPr>
          <a:xfrm>
            <a:off x="3396764" y="4709023"/>
            <a:ext cx="58761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600"/>
              </a:spcBef>
              <a:spcAft>
                <a:spcPts val="0"/>
              </a:spcAft>
            </a:pP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be vigilant, be careful, and if you do accidentally click a link, contact the </a:t>
            </a:r>
            <a:r>
              <a:rPr lang="en-US" sz="3000" dirty="0" err="1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HelpDesk</a:t>
            </a:r>
            <a:r>
              <a:rPr lang="en-US" sz="3000" dirty="0">
                <a:solidFill>
                  <a:schemeClr val="bg1"/>
                </a:solidFill>
                <a:latin typeface="Overpass" panose="020B0503020203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immediately.  </a:t>
            </a:r>
          </a:p>
        </p:txBody>
      </p:sp>
    </p:spTree>
    <p:extLst>
      <p:ext uri="{BB962C8B-B14F-4D97-AF65-F5344CB8AC3E}">
        <p14:creationId xmlns:p14="http://schemas.microsoft.com/office/powerpoint/2010/main" val="342970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025E-D638-46C9-AC3F-C34EFC5E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54" y="342899"/>
            <a:ext cx="8579000" cy="1899139"/>
          </a:xfrm>
        </p:spPr>
        <p:txBody>
          <a:bodyPr/>
          <a:lstStyle/>
          <a:p>
            <a:r>
              <a:rPr lang="en-US" sz="7200" dirty="0"/>
              <a:t>TECHNOLOGY TIPS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2F16C8-8821-4165-B583-3A5B68A7D7A5}"/>
              </a:ext>
            </a:extLst>
          </p:cNvPr>
          <p:cNvSpPr/>
          <p:nvPr/>
        </p:nvSpPr>
        <p:spPr>
          <a:xfrm>
            <a:off x="178411" y="2144642"/>
            <a:ext cx="7523923" cy="4074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bg1"/>
                </a:solidFill>
              </a:rPr>
              <a:t>Utilize the </a:t>
            </a:r>
            <a:r>
              <a:rPr lang="en-US" sz="2000" b="1" dirty="0">
                <a:solidFill>
                  <a:schemeClr val="bg1"/>
                </a:solidFill>
              </a:rPr>
              <a:t>Canvas </a:t>
            </a:r>
            <a:r>
              <a:rPr lang="en-US" sz="2000" dirty="0">
                <a:solidFill>
                  <a:schemeClr val="bg1"/>
                </a:solidFill>
              </a:rPr>
              <a:t>and </a:t>
            </a:r>
            <a:r>
              <a:rPr lang="en-US" sz="2000" b="1" dirty="0">
                <a:solidFill>
                  <a:schemeClr val="bg1"/>
                </a:solidFill>
              </a:rPr>
              <a:t>Workday Apps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bg1"/>
                </a:solidFill>
              </a:rPr>
              <a:t>Laptop Rentals </a:t>
            </a:r>
            <a:r>
              <a:rPr lang="en-US" sz="2000" dirty="0">
                <a:solidFill>
                  <a:schemeClr val="bg1"/>
                </a:solidFill>
              </a:rPr>
              <a:t>in Prescott Memorial Library</a:t>
            </a:r>
          </a:p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sz="2000" dirty="0">
                <a:solidFill>
                  <a:schemeClr val="bg1"/>
                </a:solidFill>
              </a:rPr>
              <a:t>Setup your </a:t>
            </a:r>
            <a:r>
              <a:rPr lang="en-US" sz="2000" b="1" dirty="0">
                <a:solidFill>
                  <a:schemeClr val="bg1"/>
                </a:solidFill>
              </a:rPr>
              <a:t>Tech Email on your phone</a:t>
            </a:r>
          </a:p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bg1"/>
                </a:solidFill>
              </a:rPr>
              <a:t>Free Microsoft </a:t>
            </a:r>
            <a:r>
              <a:rPr lang="en-US" sz="2000" dirty="0">
                <a:solidFill>
                  <a:schemeClr val="bg1"/>
                </a:solidFill>
              </a:rPr>
              <a:t>for Students</a:t>
            </a:r>
          </a:p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bg1"/>
                </a:solidFill>
              </a:rPr>
              <a:t>Free, On-Campus Streaming Service – </a:t>
            </a:r>
            <a:r>
              <a:rPr lang="en-US" sz="2000" dirty="0">
                <a:solidFill>
                  <a:srgbClr val="FFFF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Dogflix.latech.edu</a:t>
            </a: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US" sz="2000" b="1" dirty="0">
                <a:solidFill>
                  <a:schemeClr val="bg1"/>
                </a:solidFill>
              </a:rPr>
              <a:t>Student Discounts on Technology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971EC-24EC-45BD-A7A1-E1080BD32C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1208" y="5687534"/>
            <a:ext cx="655946" cy="655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D7D044-CCCE-40CB-8E07-9B690126435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1" y="5687534"/>
            <a:ext cx="1000235" cy="6251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42C6A-10E5-4F17-A4CD-702AD23C5FD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7723" y="5669753"/>
            <a:ext cx="556318" cy="660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94EF49-5475-459F-A92A-0D78DED0FDD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6566" y="3683432"/>
            <a:ext cx="744285" cy="5582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7B9CD2-EED2-49B1-A909-5F6896CDF4A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4378" y="2063400"/>
            <a:ext cx="987341" cy="9056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0C1876-33E0-4543-B3DE-52F6B3EC799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19" t="4103" r="6118" b="5590"/>
          <a:stretch/>
        </p:blipFill>
        <p:spPr>
          <a:xfrm>
            <a:off x="5972462" y="2033398"/>
            <a:ext cx="963030" cy="1001189"/>
          </a:xfrm>
          <a:prstGeom prst="ellipse">
            <a:avLst/>
          </a:prstGeom>
          <a:ln w="190500" cap="rnd">
            <a:noFill/>
            <a:prstDash val="solid"/>
          </a:ln>
          <a:effectLst/>
        </p:spPr>
      </p:pic>
    </p:spTree>
    <p:extLst>
      <p:ext uri="{BB962C8B-B14F-4D97-AF65-F5344CB8AC3E}">
        <p14:creationId xmlns:p14="http://schemas.microsoft.com/office/powerpoint/2010/main" val="3474119986"/>
      </p:ext>
    </p:extLst>
  </p:cSld>
  <p:clrMapOvr>
    <a:masterClrMapping/>
  </p:clrMapOvr>
</p:sld>
</file>

<file path=ppt/theme/theme1.xml><?xml version="1.0" encoding="utf-8"?>
<a:theme xmlns:a="http://schemas.openxmlformats.org/drawingml/2006/main" name="FYE Master Theme">
  <a:themeElements>
    <a:clrScheme name="Tech Colors">
      <a:dk1>
        <a:srgbClr val="000000"/>
      </a:dk1>
      <a:lt1>
        <a:srgbClr val="FFFFFF"/>
      </a:lt1>
      <a:dk2>
        <a:srgbClr val="003087"/>
      </a:dk2>
      <a:lt2>
        <a:srgbClr val="E7E6E6"/>
      </a:lt2>
      <a:accent1>
        <a:srgbClr val="CB333B"/>
      </a:accent1>
      <a:accent2>
        <a:srgbClr val="69B3E7"/>
      </a:accent2>
      <a:accent3>
        <a:srgbClr val="003087"/>
      </a:accent3>
      <a:accent4>
        <a:srgbClr val="0A3254"/>
      </a:accent4>
      <a:accent5>
        <a:srgbClr val="C6DAE7"/>
      </a:accent5>
      <a:accent6>
        <a:srgbClr val="B73E26"/>
      </a:accent6>
      <a:hlink>
        <a:srgbClr val="A2AAAD"/>
      </a:hlink>
      <a:folHlink>
        <a:srgbClr val="0A3254"/>
      </a:folHlink>
    </a:clrScheme>
    <a:fontScheme name="FYE Preset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YE Master Theme" id="{23E53EA7-8BFA-486B-A80D-9F0A33E7E0C9}" vid="{0E37A176-8147-4D86-8613-5379B65434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FYE Master Theme</Template>
  <TotalTime>6</TotalTime>
  <Words>715</Words>
  <Application>Microsoft Office PowerPoint</Application>
  <PresentationFormat>Widescreen</PresentationFormat>
  <Paragraphs>140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Arial Black</vt:lpstr>
      <vt:lpstr>Consolas</vt:lpstr>
      <vt:lpstr>Overpass</vt:lpstr>
      <vt:lpstr>Segoe UI</vt:lpstr>
      <vt:lpstr>Segoe UI Black</vt:lpstr>
      <vt:lpstr>Segoe UI Light</vt:lpstr>
      <vt:lpstr>FYE Master Theme</vt:lpstr>
      <vt:lpstr>TECH-NOLOGY: Tools for Success</vt:lpstr>
      <vt:lpstr>CHAPTER OBJECTIVES</vt:lpstr>
      <vt:lpstr>THE IT HELP DESK</vt:lpstr>
      <vt:lpstr>COMPUTER LABS &amp; PRINT STATIONS</vt:lpstr>
      <vt:lpstr>REMOTE PRINTER STATIONS</vt:lpstr>
      <vt:lpstr>CAMPUS EMAIL</vt:lpstr>
      <vt:lpstr>EMAIL ETIQUETTE</vt:lpstr>
      <vt:lpstr>IMPORTANT WEBSITES</vt:lpstr>
      <vt:lpstr>TECHNOLOGY AND SAFETY</vt:lpstr>
      <vt:lpstr>PowerPoint Presentation</vt:lpstr>
      <vt:lpstr>PowerPoint Presentation</vt:lpstr>
      <vt:lpstr>PowerPoint Presentation</vt:lpstr>
      <vt:lpstr>PowerPoint Presentation</vt:lpstr>
      <vt:lpstr>TECHNOLOGY TIPS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Elton Taylor</dc:creator>
  <cp:lastModifiedBy>William Long</cp:lastModifiedBy>
  <cp:revision>1</cp:revision>
  <dcterms:created xsi:type="dcterms:W3CDTF">2025-08-11T01:35:18Z</dcterms:created>
  <dcterms:modified xsi:type="dcterms:W3CDTF">2025-09-08T14:48:32Z</dcterms:modified>
</cp:coreProperties>
</file>