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347" r:id="rId2"/>
    <p:sldId id="329" r:id="rId3"/>
    <p:sldId id="343" r:id="rId4"/>
    <p:sldId id="359" r:id="rId5"/>
    <p:sldId id="353" r:id="rId6"/>
    <p:sldId id="334" r:id="rId7"/>
    <p:sldId id="363" r:id="rId8"/>
    <p:sldId id="325" r:id="rId9"/>
    <p:sldId id="360" r:id="rId10"/>
    <p:sldId id="361" r:id="rId11"/>
    <p:sldId id="362" r:id="rId12"/>
    <p:sldId id="367" r:id="rId13"/>
    <p:sldId id="368" r:id="rId14"/>
    <p:sldId id="369" r:id="rId15"/>
    <p:sldId id="370" r:id="rId16"/>
    <p:sldId id="371" r:id="rId17"/>
    <p:sldId id="350" r:id="rId18"/>
    <p:sldId id="372" r:id="rId19"/>
    <p:sldId id="355" r:id="rId20"/>
    <p:sldId id="373" r:id="rId21"/>
    <p:sldId id="374" r:id="rId22"/>
    <p:sldId id="375" r:id="rId23"/>
    <p:sldId id="376" r:id="rId24"/>
    <p:sldId id="356" r:id="rId25"/>
    <p:sldId id="377" r:id="rId26"/>
    <p:sldId id="378" r:id="rId27"/>
    <p:sldId id="358" r:id="rId28"/>
    <p:sldId id="37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A5776-C16E-4CE9-9A56-8B36528C1AD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B6E0C1-233C-4557-A0A0-970A4CEE6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91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661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551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82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038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258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363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908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2886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169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3205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377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9493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4187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9842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3324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E09883-B744-4FDD-8623-D69A666500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5219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E09883-B744-4FDD-8623-D69A666500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15518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E09883-B744-4FDD-8623-D69A666500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5932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E09883-B744-4FDD-8623-D69A666500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3637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E09883-B744-4FDD-8623-D69A666500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32580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E09883-B744-4FDD-8623-D69A666500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69088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E09883-B744-4FDD-8623-D69A666500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4271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E09883-B744-4FDD-8623-D69A666500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51681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E09883-B744-4FDD-8623-D69A666500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8235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E09883-B744-4FDD-8623-D69A666500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28580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E09883-B744-4FDD-8623-D69A6665002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9038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1185" y="629469"/>
            <a:ext cx="7319941" cy="5599062"/>
          </a:xfrm>
        </p:spPr>
        <p:txBody>
          <a:bodyPr lIns="0" tIns="0" rIns="0" bIns="0" anchor="ctr">
            <a:noAutofit/>
          </a:bodyPr>
          <a:lstStyle>
            <a:lvl1pPr mar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968361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3"/>
            <a:ext cx="6400800" cy="1828800"/>
          </a:xfrm>
        </p:spPr>
        <p:txBody>
          <a:bodyPr lIns="0" tIns="0" rIns="0" bIns="0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0286" t="49280" r="50286"/>
          <a:stretch/>
        </p:blipFill>
        <p:spPr>
          <a:xfrm>
            <a:off x="8077200" y="0"/>
            <a:ext cx="4114800" cy="3478385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55550" y="-382268"/>
            <a:ext cx="1291008" cy="1291008"/>
          </a:xfrm>
          <a:prstGeom prst="ellipse">
            <a:avLst/>
          </a:prstGeom>
          <a:solidFill>
            <a:srgbClr val="CB33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AC91-E5AE-A457-178C-6A577DAAF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2774786"/>
            <a:ext cx="6400800" cy="3257550"/>
          </a:xfrm>
        </p:spPr>
        <p:txBody>
          <a:bodyPr lIns="0"/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6230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0B2CA14-03DC-FC05-7713-E0261B4B2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42" b="69630"/>
          <a:stretch>
            <a:fillRect/>
          </a:stretch>
        </p:blipFill>
        <p:spPr>
          <a:xfrm>
            <a:off x="5262" y="5114303"/>
            <a:ext cx="6608233" cy="2082800"/>
          </a:xfrm>
          <a:custGeom>
            <a:avLst/>
            <a:gdLst>
              <a:gd name="connsiteX0" fmla="*/ 0 w 6608233"/>
              <a:gd name="connsiteY0" fmla="*/ 0 h 2082800"/>
              <a:gd name="connsiteX1" fmla="*/ 6608233 w 6608233"/>
              <a:gd name="connsiteY1" fmla="*/ 0 h 2082800"/>
              <a:gd name="connsiteX2" fmla="*/ 6608233 w 6608233"/>
              <a:gd name="connsiteY2" fmla="*/ 2082800 h 2082800"/>
              <a:gd name="connsiteX3" fmla="*/ 0 w 6608233"/>
              <a:gd name="connsiteY3" fmla="*/ 2082800 h 20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5EC223C2-E475-8E7A-48D4-A9BC2EB69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3460" y="1013569"/>
            <a:ext cx="2692400" cy="2692400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4ED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D9D7CE-BCD9-0B12-1945-C5FFE31A7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30210" y="-230369"/>
            <a:ext cx="2115351" cy="21153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55275E-28AB-F0B7-E799-5116B1120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827307"/>
            <a:ext cx="6400800" cy="5203387"/>
          </a:xfrm>
        </p:spPr>
        <p:txBody>
          <a:bodyPr lIns="0" tIns="0" rIns="0" bIns="0" anchor="ctr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7BD7E0A-39A9-0CF7-F1CE-E777075BF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24225" y="2257196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ln w="57150">
            <a:noFill/>
          </a:ln>
        </p:spPr>
        <p:txBody>
          <a:bodyPr wrap="square" tIns="137160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078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1416">
          <p15:clr>
            <a:srgbClr val="FBAE40"/>
          </p15:clr>
        </p15:guide>
        <p15:guide id="9" orient="horz" pos="384">
          <p15:clr>
            <a:srgbClr val="FBAE40"/>
          </p15:clr>
        </p15:guide>
        <p15:guide id="10" orient="horz" pos="37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>
            <a:extLst>
              <a:ext uri="{FF2B5EF4-FFF2-40B4-BE49-F238E27FC236}">
                <a16:creationId xmlns:a16="http://schemas.microsoft.com/office/drawing/2014/main" id="{269C21E5-B8EE-7438-A771-34BC8006E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216"/>
          <a:stretch/>
        </p:blipFill>
        <p:spPr>
          <a:xfrm>
            <a:off x="10173182" y="-246461"/>
            <a:ext cx="1574573" cy="421148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8F333FA-6DDE-DB6C-73BB-FE8387977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73181" y="4281054"/>
            <a:ext cx="1574573" cy="1572768"/>
          </a:xfrm>
          <a:prstGeom prst="ellipse">
            <a:avLst/>
          </a:prstGeom>
          <a:solidFill>
            <a:srgbClr val="CB33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87953E-96F2-8BCC-B295-E1033E7D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7599718" cy="3051394"/>
          </a:xfrm>
        </p:spPr>
        <p:txBody>
          <a:bodyPr lIns="0" tIns="0" rIns="0" bIns="0"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A627B70-91C8-40B9-6189-B29749FF6E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1185" y="3965028"/>
            <a:ext cx="7599718" cy="14937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800"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15809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1416">
          <p15:clr>
            <a:srgbClr val="FBAE40"/>
          </p15:clr>
        </p15:guide>
        <p15:guide id="9" orient="horz" pos="384">
          <p15:clr>
            <a:srgbClr val="FBAE40"/>
          </p15:clr>
        </p15:guide>
        <p15:guide id="10" orient="horz" pos="37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C12813-DBA6-41C2-2418-83919E059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82973" y="0"/>
            <a:ext cx="2133966" cy="2133967"/>
            <a:chOff x="9654700" y="2229294"/>
            <a:chExt cx="2133966" cy="213396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2A74540-7988-B712-8AB1-9EE03FE1EC8A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6CF9A1-91DA-6419-08F2-4CC262EA4D1E}"/>
                </a:ext>
              </a:extLst>
            </p:cNvPr>
            <p:cNvSpPr/>
            <p:nvPr/>
          </p:nvSpPr>
          <p:spPr>
            <a:xfrm>
              <a:off x="9654700" y="2229294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rgbClr val="D4E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AAAE3BC0-55AE-B520-F2B8-50BF886EF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t="52884" r="47081"/>
          <a:stretch/>
        </p:blipFill>
        <p:spPr>
          <a:xfrm flipH="1" flipV="1">
            <a:off x="-1" y="3626778"/>
            <a:ext cx="3629203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0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2A1870-E86B-5125-7AB3-A1F5DF7E752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53000" y="2768043"/>
            <a:ext cx="6400799" cy="3231221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0987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1416">
          <p15:clr>
            <a:srgbClr val="FBAE40"/>
          </p15:clr>
        </p15:guide>
        <p15:guide id="9" orient="horz" pos="384">
          <p15:clr>
            <a:srgbClr val="FBAE40"/>
          </p15:clr>
        </p15:guide>
        <p15:guide id="10" orient="horz" pos="37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3051393"/>
          </a:xfrm>
        </p:spPr>
        <p:txBody>
          <a:bodyPr lIns="0" tIns="0" rIns="0" bIns="0" anchor="b">
            <a:noAutofit/>
          </a:bodyPr>
          <a:lstStyle>
            <a:lvl1pPr>
              <a:defRPr sz="54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185" y="3965028"/>
            <a:ext cx="6400799" cy="196674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b="1" i="0" dirty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pPr marL="228600" lvl="0" indent="-228600"/>
            <a:r>
              <a:rPr lang="en-US" dirty="0"/>
              <a:t>Click to add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t="17849" r="22091"/>
          <a:stretch/>
        </p:blipFill>
        <p:spPr>
          <a:xfrm>
            <a:off x="7114998" y="0"/>
            <a:ext cx="5097779" cy="5261843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EDAF-6CF8-D96E-EB91-CAFEBE0CA1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55177" y="234084"/>
            <a:ext cx="3657600" cy="365760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solidFill>
            <a:schemeClr val="accent3"/>
          </a:solidFill>
          <a:ln w="57150">
            <a:noFill/>
          </a:ln>
        </p:spPr>
        <p:txBody>
          <a:bodyPr wrap="square" tIns="11887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565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22F8239-92F5-595B-5DD3-ACBA1C19E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2969"/>
          <a:stretch/>
        </p:blipFill>
        <p:spPr>
          <a:xfrm>
            <a:off x="3459002" y="5609995"/>
            <a:ext cx="7328137" cy="1248005"/>
          </a:xfrm>
          <a:custGeom>
            <a:avLst/>
            <a:gdLst>
              <a:gd name="connsiteX0" fmla="*/ 0 w 7328137"/>
              <a:gd name="connsiteY0" fmla="*/ 0 h 1912980"/>
              <a:gd name="connsiteX1" fmla="*/ 7328137 w 7328137"/>
              <a:gd name="connsiteY1" fmla="*/ 0 h 1912980"/>
              <a:gd name="connsiteX2" fmla="*/ 7328137 w 7328137"/>
              <a:gd name="connsiteY2" fmla="*/ 1912980 h 1912980"/>
              <a:gd name="connsiteX3" fmla="*/ 0 w 7328137"/>
              <a:gd name="connsiteY3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8137" h="1912980">
                <a:moveTo>
                  <a:pt x="0" y="0"/>
                </a:moveTo>
                <a:lnTo>
                  <a:pt x="7328137" y="0"/>
                </a:lnTo>
                <a:lnTo>
                  <a:pt x="7328137" y="1912980"/>
                </a:lnTo>
                <a:lnTo>
                  <a:pt x="0" y="191298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9E987C-6F3E-FB11-D796-2D5F9075A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9829617" y="0"/>
            <a:ext cx="2133966" cy="2133966"/>
            <a:chOff x="9654699" y="2229295"/>
            <a:chExt cx="2133966" cy="21339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342B09-3192-492F-3F5F-19163C83F9E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2E2B15-36A9-C2C7-6306-EEA512B646D0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52DD956C-BC83-8F97-6FF5-5A11028F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21792"/>
            <a:ext cx="8180412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612ED1-3CD3-8532-2C92-777F6D005F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38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BCE7-3651-7CA3-1353-9B2526D267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217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4467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1416">
          <p15:clr>
            <a:srgbClr val="FBAE40"/>
          </p15:clr>
        </p15:guide>
        <p15:guide id="9" orient="horz" pos="384">
          <p15:clr>
            <a:srgbClr val="FBAE40"/>
          </p15:clr>
        </p15:guide>
        <p15:guide id="10" orient="horz" pos="37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">
            <a:extLst>
              <a:ext uri="{FF2B5EF4-FFF2-40B4-BE49-F238E27FC236}">
                <a16:creationId xmlns:a16="http://schemas.microsoft.com/office/drawing/2014/main" id="{83F8143D-16B1-4CE2-1910-9E5074922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2807"/>
          <a:stretch/>
        </p:blipFill>
        <p:spPr>
          <a:xfrm rot="10800000">
            <a:off x="9987169" y="4877232"/>
            <a:ext cx="1574573" cy="1980768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6BE63D1-6CC6-AD50-D587-0514090FB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987170" y="3039926"/>
            <a:ext cx="1572768" cy="157276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05155"/>
            <a:ext cx="10571734" cy="1160145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DE6614-889D-2DB5-4C2F-DCBD22BA3B2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11185" y="2041456"/>
            <a:ext cx="2736849" cy="4067717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051560" indent="-228600">
              <a:buFont typeface="+mj-lt"/>
              <a:buAutoNum type="alphaLcParenR"/>
              <a:defRPr sz="1800"/>
            </a:lvl4pPr>
            <a:lvl5pPr marL="1417320" indent="-2286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B2B871-B646-8E1E-CD57-2224B2D4E59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744073" y="2037680"/>
            <a:ext cx="4156619" cy="4046290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9937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63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 rot="10800000">
            <a:off x="-887922" y="0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6275416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FE945C7-CAAC-C9B4-0B56-EC62E53C8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17902" y="5607506"/>
            <a:ext cx="1096391" cy="1096391"/>
          </a:xfrm>
          <a:prstGeom prst="ellipse">
            <a:avLst/>
          </a:prstGeom>
          <a:solidFill>
            <a:srgbClr val="D4ED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 4">
            <a:extLst>
              <a:ext uri="{FF2B5EF4-FFF2-40B4-BE49-F238E27FC236}">
                <a16:creationId xmlns:a16="http://schemas.microsoft.com/office/drawing/2014/main" id="{E58C5299-758C-70DA-D929-E0BC719E9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00638" y="5090242"/>
            <a:ext cx="2130921" cy="2130921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4C6AC-F9E8-412E-2D6B-9FDD07ADDE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0330" y="2771566"/>
            <a:ext cx="6275387" cy="3271324"/>
          </a:xfr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0463C33-FF99-2443-BE5D-682AC8CB8B7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65200" y="136525"/>
            <a:ext cx="4126800" cy="4126800"/>
          </a:xfrm>
          <a:custGeom>
            <a:avLst/>
            <a:gdLst>
              <a:gd name="connsiteX0" fmla="*/ 2063400 w 4126800"/>
              <a:gd name="connsiteY0" fmla="*/ 0 h 4126800"/>
              <a:gd name="connsiteX1" fmla="*/ 4126800 w 4126800"/>
              <a:gd name="connsiteY1" fmla="*/ 2063400 h 4126800"/>
              <a:gd name="connsiteX2" fmla="*/ 2063400 w 4126800"/>
              <a:gd name="connsiteY2" fmla="*/ 4126800 h 4126800"/>
              <a:gd name="connsiteX3" fmla="*/ 0 w 4126800"/>
              <a:gd name="connsiteY3" fmla="*/ 2063400 h 4126800"/>
              <a:gd name="connsiteX4" fmla="*/ 2063400 w 4126800"/>
              <a:gd name="connsiteY4" fmla="*/ 0 h 412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6800" h="4126800">
                <a:moveTo>
                  <a:pt x="2063400" y="0"/>
                </a:moveTo>
                <a:cubicBezTo>
                  <a:pt x="3202984" y="0"/>
                  <a:pt x="4126800" y="923816"/>
                  <a:pt x="4126800" y="2063400"/>
                </a:cubicBezTo>
                <a:cubicBezTo>
                  <a:pt x="4126800" y="3202984"/>
                  <a:pt x="3202984" y="4126800"/>
                  <a:pt x="2063400" y="4126800"/>
                </a:cubicBezTo>
                <a:cubicBezTo>
                  <a:pt x="923816" y="4126800"/>
                  <a:pt x="0" y="3202984"/>
                  <a:pt x="0" y="2063400"/>
                </a:cubicBezTo>
                <a:cubicBezTo>
                  <a:pt x="0" y="923816"/>
                  <a:pt x="923816" y="0"/>
                  <a:pt x="206340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tIns="7315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7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63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Table">
    <p:bg>
      <p:bgPr>
        <a:solidFill>
          <a:srgbClr val="0A32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D978EB2-1AE7-BB87-954B-F3DBF508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10569634" cy="1801793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6BDC3-2B84-117A-BF71-A331C1DD6BC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3" y="2796209"/>
            <a:ext cx="3657598" cy="3147392"/>
          </a:xfrm>
        </p:spPr>
        <p:txBody>
          <a:bodyPr lIns="0" tIns="0" rIns="0" bIns="0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D2A92BD-8372-F61F-9551-6FA12079139B}"/>
              </a:ext>
            </a:extLst>
          </p:cNvPr>
          <p:cNvSpPr>
            <a:spLocks noGrp="1"/>
          </p:cNvSpPr>
          <p:nvPr>
            <p:ph type="tbl" sz="quarter" idx="28" hasCustomPrompt="1"/>
          </p:nvPr>
        </p:nvSpPr>
        <p:spPr>
          <a:xfrm>
            <a:off x="4902200" y="2795588"/>
            <a:ext cx="6478617" cy="314801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AD34447-4ADA-4090-AC72-F63ED0A9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46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7344">
          <p15:clr>
            <a:srgbClr val="FBAE40"/>
          </p15:clr>
        </p15:guide>
        <p15:guide id="7" orient="horz" pos="1416">
          <p15:clr>
            <a:srgbClr val="FBAE40"/>
          </p15:clr>
        </p15:guide>
        <p15:guide id="9" orient="horz" pos="384">
          <p15:clr>
            <a:srgbClr val="FBAE40"/>
          </p15:clr>
        </p15:guide>
        <p15:guide id="10" orient="horz" pos="374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9EF52E1-6F3C-5D9B-32DC-A156BDDE2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647" b="86709"/>
          <a:stretch/>
        </p:blipFill>
        <p:spPr>
          <a:xfrm>
            <a:off x="-1" y="5946505"/>
            <a:ext cx="5304866" cy="911495"/>
          </a:xfrm>
          <a:custGeom>
            <a:avLst/>
            <a:gdLst>
              <a:gd name="connsiteX0" fmla="*/ 0 w 5304866"/>
              <a:gd name="connsiteY0" fmla="*/ 0 h 1912980"/>
              <a:gd name="connsiteX1" fmla="*/ 5304866 w 5304866"/>
              <a:gd name="connsiteY1" fmla="*/ 0 h 1912980"/>
              <a:gd name="connsiteX2" fmla="*/ 5304866 w 5304866"/>
              <a:gd name="connsiteY2" fmla="*/ 1912980 h 1912980"/>
              <a:gd name="connsiteX3" fmla="*/ 5304865 w 5304866"/>
              <a:gd name="connsiteY3" fmla="*/ 1912980 h 1912980"/>
              <a:gd name="connsiteX4" fmla="*/ 0 w 5304866"/>
              <a:gd name="connsiteY4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866" h="1912980">
                <a:moveTo>
                  <a:pt x="0" y="0"/>
                </a:moveTo>
                <a:lnTo>
                  <a:pt x="5304866" y="0"/>
                </a:lnTo>
                <a:lnTo>
                  <a:pt x="5304866" y="1912980"/>
                </a:lnTo>
                <a:lnTo>
                  <a:pt x="5304865" y="1912980"/>
                </a:lnTo>
                <a:lnTo>
                  <a:pt x="0" y="1912980"/>
                </a:lnTo>
                <a:close/>
              </a:path>
            </a:pathLst>
          </a:cu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4510996E-0672-63AB-DCBF-25B251B2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97680" y="0"/>
            <a:ext cx="1694321" cy="2692400"/>
          </a:xfrm>
          <a:custGeom>
            <a:avLst/>
            <a:gdLst>
              <a:gd name="connsiteX0" fmla="*/ 1346200 w 1694321"/>
              <a:gd name="connsiteY0" fmla="*/ 0 h 2692400"/>
              <a:gd name="connsiteX1" fmla="*/ 1617506 w 1694321"/>
              <a:gd name="connsiteY1" fmla="*/ 27350 h 2692400"/>
              <a:gd name="connsiteX2" fmla="*/ 1694321 w 1694321"/>
              <a:gd name="connsiteY2" fmla="*/ 47101 h 2692400"/>
              <a:gd name="connsiteX3" fmla="*/ 1694321 w 1694321"/>
              <a:gd name="connsiteY3" fmla="*/ 528114 h 2692400"/>
              <a:gd name="connsiteX4" fmla="*/ 1692265 w 1694321"/>
              <a:gd name="connsiteY4" fmla="*/ 526998 h 2692400"/>
              <a:gd name="connsiteX5" fmla="*/ 1346199 w 1694321"/>
              <a:gd name="connsiteY5" fmla="*/ 457130 h 2692400"/>
              <a:gd name="connsiteX6" fmla="*/ 457130 w 1694321"/>
              <a:gd name="connsiteY6" fmla="*/ 1346199 h 2692400"/>
              <a:gd name="connsiteX7" fmla="*/ 1346199 w 1694321"/>
              <a:gd name="connsiteY7" fmla="*/ 2235268 h 2692400"/>
              <a:gd name="connsiteX8" fmla="*/ 1692265 w 1694321"/>
              <a:gd name="connsiteY8" fmla="*/ 2165401 h 2692400"/>
              <a:gd name="connsiteX9" fmla="*/ 1694321 w 1694321"/>
              <a:gd name="connsiteY9" fmla="*/ 2164285 h 2692400"/>
              <a:gd name="connsiteX10" fmla="*/ 1694321 w 1694321"/>
              <a:gd name="connsiteY10" fmla="*/ 2645299 h 2692400"/>
              <a:gd name="connsiteX11" fmla="*/ 1617506 w 1694321"/>
              <a:gd name="connsiteY11" fmla="*/ 2665050 h 2692400"/>
              <a:gd name="connsiteX12" fmla="*/ 1346200 w 1694321"/>
              <a:gd name="connsiteY12" fmla="*/ 2692400 h 2692400"/>
              <a:gd name="connsiteX13" fmla="*/ 0 w 1694321"/>
              <a:gd name="connsiteY13" fmla="*/ 1346200 h 2692400"/>
              <a:gd name="connsiteX14" fmla="*/ 1346200 w 1694321"/>
              <a:gd name="connsiteY14" fmla="*/ 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4321" h="2692400">
                <a:moveTo>
                  <a:pt x="1346200" y="0"/>
                </a:moveTo>
                <a:cubicBezTo>
                  <a:pt x="1439136" y="0"/>
                  <a:pt x="1529872" y="9417"/>
                  <a:pt x="1617506" y="27350"/>
                </a:cubicBezTo>
                <a:lnTo>
                  <a:pt x="1694321" y="47101"/>
                </a:lnTo>
                <a:lnTo>
                  <a:pt x="1694321" y="528114"/>
                </a:lnTo>
                <a:lnTo>
                  <a:pt x="1692265" y="526998"/>
                </a:lnTo>
                <a:cubicBezTo>
                  <a:pt x="1585898" y="482008"/>
                  <a:pt x="1468954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468954" y="2235268"/>
                  <a:pt x="1585898" y="2210390"/>
                  <a:pt x="1692265" y="2165401"/>
                </a:cubicBezTo>
                <a:lnTo>
                  <a:pt x="1694321" y="2164285"/>
                </a:lnTo>
                <a:lnTo>
                  <a:pt x="1694321" y="2645299"/>
                </a:lnTo>
                <a:lnTo>
                  <a:pt x="1617506" y="2665050"/>
                </a:lnTo>
                <a:cubicBezTo>
                  <a:pt x="1529872" y="2682983"/>
                  <a:pt x="143913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2B4D4-87FA-ACC4-A0FD-E98B07CE98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5" y="3067050"/>
            <a:ext cx="6400800" cy="30480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800"/>
            </a:lvl2pPr>
            <a:lvl3pPr marL="685800">
              <a:defRPr sz="1800"/>
            </a:lvl3pPr>
            <a:lvl4pPr marL="1051560">
              <a:defRPr sz="1800"/>
            </a:lvl4pPr>
            <a:lvl5pPr marL="141732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8F85D-7A7F-3D36-8C6A-6589D66D2AF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861300" y="3067050"/>
            <a:ext cx="3519515" cy="3048000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165860" indent="-342900">
              <a:buFont typeface="+mj-lt"/>
              <a:buAutoNum type="alphaLcPeriod"/>
              <a:defRPr sz="1800"/>
            </a:lvl4pPr>
            <a:lvl5pPr marL="153162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AD34447-4ADA-4090-AC72-F63ED0A9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203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63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67254"/>
          <a:stretch>
            <a:fillRect/>
          </a:stretch>
        </p:blipFill>
        <p:spPr>
          <a:xfrm>
            <a:off x="0" y="4612248"/>
            <a:ext cx="3769950" cy="2245753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3E0C7AAD-1535-12DC-133E-2253BF501721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811183" y="2757488"/>
            <a:ext cx="10548967" cy="3399964"/>
          </a:xfrm>
        </p:spPr>
        <p:txBody>
          <a:bodyPr/>
          <a:lstStyle/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D34447-4ADA-4090-AC72-F63ED0A9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11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1560">
          <p15:clr>
            <a:srgbClr val="FBAE40"/>
          </p15:clr>
        </p15:guide>
        <p15:guide id="4" pos="312">
          <p15:clr>
            <a:srgbClr val="FBAE40"/>
          </p15:clr>
        </p15:guide>
        <p15:guide id="5" pos="816">
          <p15:clr>
            <a:srgbClr val="FBAE40"/>
          </p15:clr>
        </p15:guide>
        <p15:guide id="6" pos="63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8AC6985-AA41-BCAE-CEDF-E736D973B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7B85660-94E4-85D1-95CA-415513A035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1185" y="4724033"/>
            <a:ext cx="7000972" cy="170942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CAF5C0-1B51-02B5-924D-230575353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9829617" y="4724034"/>
            <a:ext cx="2133966" cy="2133966"/>
            <a:chOff x="9654699" y="2229295"/>
            <a:chExt cx="2133966" cy="2133966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41AAE8D5-8E6A-7CBE-9018-DD8F3493D049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C694532E-B147-38A2-55EE-24483385016A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114B3BE5-2D39-542C-00BB-A940C568E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7983" r="47282"/>
          <a:stretch/>
        </p:blipFill>
        <p:spPr>
          <a:xfrm>
            <a:off x="8576607" y="0"/>
            <a:ext cx="3615393" cy="2881530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6853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2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10569630" cy="1068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185" y="1825625"/>
            <a:ext cx="1056963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2AD34447-4ADA-4090-AC72-F63ED0A9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59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spc="100" baseline="0">
          <a:solidFill>
            <a:schemeClr val="bg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jf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2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15D2-7F57-AF2A-38D7-558098789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03" y="1709210"/>
            <a:ext cx="9284392" cy="1719790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CONNECTING TO STUDENT LIFE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F4F50D-EF92-52BD-E839-28B30DD0BD09}"/>
              </a:ext>
            </a:extLst>
          </p:cNvPr>
          <p:cNvSpPr txBox="1">
            <a:spLocks/>
          </p:cNvSpPr>
          <p:nvPr/>
        </p:nvSpPr>
        <p:spPr>
          <a:xfrm>
            <a:off x="384003" y="5934846"/>
            <a:ext cx="8961120" cy="92315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en-US" sz="4400" dirty="0"/>
              <a:t>Chapter 5</a:t>
            </a:r>
          </a:p>
        </p:txBody>
      </p:sp>
    </p:spTree>
    <p:extLst>
      <p:ext uri="{BB962C8B-B14F-4D97-AF65-F5344CB8AC3E}">
        <p14:creationId xmlns:p14="http://schemas.microsoft.com/office/powerpoint/2010/main" val="1069702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ABBA-2E6D-E7DD-AC67-58D1FCB3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13" y="319901"/>
            <a:ext cx="6400800" cy="1828800"/>
          </a:xfrm>
        </p:spPr>
        <p:txBody>
          <a:bodyPr/>
          <a:lstStyle/>
          <a:p>
            <a:r>
              <a:rPr lang="en-US" sz="6600" dirty="0">
                <a:latin typeface="Segoe UI"/>
              </a:rPr>
              <a:t>CHAPTER OBJECTIVES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01105-5841-28D0-D6C0-3E1A46648BF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12" y="2264713"/>
            <a:ext cx="7866285" cy="4182740"/>
          </a:xfrm>
        </p:spPr>
        <p:txBody>
          <a:bodyPr vert="horz" lIns="0" tIns="45720" rIns="91440" bIns="45720" rtlCol="0" anchor="t">
            <a:normAutofit/>
          </a:bodyPr>
          <a:lstStyle/>
          <a:p>
            <a:r>
              <a:rPr lang="en-US" dirty="0"/>
              <a:t>Explore Student Life resources at Louisiana Tech</a:t>
            </a:r>
          </a:p>
          <a:p>
            <a:endParaRPr lang="en-US" dirty="0"/>
          </a:p>
          <a:p>
            <a:r>
              <a:rPr lang="en-US" dirty="0"/>
              <a:t>Understand multicultural competence and recognize opportunities for cultural diversity </a:t>
            </a:r>
          </a:p>
          <a:p>
            <a:endParaRPr lang="en-US" dirty="0"/>
          </a:p>
          <a:p>
            <a:r>
              <a:rPr lang="en-US" dirty="0"/>
              <a:t>Access information about organizations, events, and activities </a:t>
            </a:r>
          </a:p>
          <a:p>
            <a:endParaRPr lang="en-US" dirty="0"/>
          </a:p>
          <a:p>
            <a:r>
              <a:rPr lang="en-US" dirty="0"/>
              <a:t>Identify sources for recreation, health and wellness, counseling, career, and dining services</a:t>
            </a:r>
          </a:p>
        </p:txBody>
      </p:sp>
    </p:spTree>
    <p:extLst>
      <p:ext uri="{BB962C8B-B14F-4D97-AF65-F5344CB8AC3E}">
        <p14:creationId xmlns:p14="http://schemas.microsoft.com/office/powerpoint/2010/main" val="429486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FA0680B-04E0-49BA-9B69-228A5C82BB4B}"/>
              </a:ext>
            </a:extLst>
          </p:cNvPr>
          <p:cNvSpPr txBox="1">
            <a:spLocks/>
          </p:cNvSpPr>
          <p:nvPr/>
        </p:nvSpPr>
        <p:spPr>
          <a:xfrm>
            <a:off x="439263" y="671269"/>
            <a:ext cx="9047637" cy="5727005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accent4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0" dirty="0"/>
              <a:t> </a:t>
            </a:r>
            <a:r>
              <a:rPr lang="en-US" sz="6600" dirty="0">
                <a:solidFill>
                  <a:schemeClr val="bg1"/>
                </a:solidFill>
              </a:rPr>
              <a:t>“We want you to get involved, enjoy your freshman year, develop as a person, and pursue academic excellence.” </a:t>
            </a:r>
            <a:endParaRPr lang="en-US" sz="6000" dirty="0">
              <a:solidFill>
                <a:schemeClr val="bg1"/>
              </a:solidFill>
            </a:endParaRPr>
          </a:p>
          <a:p>
            <a:pPr marL="342900" indent="-342900">
              <a:buChar char="•"/>
            </a:pPr>
            <a:endParaRPr lang="en-US" sz="6000" dirty="0">
              <a:solidFill>
                <a:srgbClr val="003087"/>
              </a:solidFill>
              <a:latin typeface="Segoe UI"/>
            </a:endParaRPr>
          </a:p>
          <a:p>
            <a:endParaRPr lang="en-US" sz="6000" dirty="0">
              <a:latin typeface="Segoe UI Light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5F2ED29-D10F-4DD7-801F-31518F3C0571}"/>
              </a:ext>
            </a:extLst>
          </p:cNvPr>
          <p:cNvSpPr txBox="1">
            <a:spLocks/>
          </p:cNvSpPr>
          <p:nvPr/>
        </p:nvSpPr>
        <p:spPr>
          <a:xfrm>
            <a:off x="5514391" y="5290992"/>
            <a:ext cx="5206481" cy="793102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accent4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3200" b="0" dirty="0">
                <a:solidFill>
                  <a:schemeClr val="accent2"/>
                </a:solidFill>
              </a:rPr>
              <a:t>SAM SPEED</a:t>
            </a:r>
          </a:p>
          <a:p>
            <a:pPr>
              <a:spcBef>
                <a:spcPts val="600"/>
              </a:spcBef>
            </a:pPr>
            <a:r>
              <a:rPr lang="en-US" sz="1600" b="0" dirty="0">
                <a:solidFill>
                  <a:schemeClr val="accent2"/>
                </a:solidFill>
              </a:rPr>
              <a:t>Assistant Vice President for Student Advancement</a:t>
            </a:r>
            <a:endParaRPr lang="en-US" sz="3200" dirty="0">
              <a:solidFill>
                <a:schemeClr val="accent2"/>
              </a:solidFill>
              <a:latin typeface="Segoe UI"/>
            </a:endParaRPr>
          </a:p>
          <a:p>
            <a:pPr>
              <a:spcBef>
                <a:spcPts val="600"/>
              </a:spcBef>
            </a:pPr>
            <a:endParaRPr lang="en-US" dirty="0">
              <a:latin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67072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462D7-27D2-94DC-1264-B7922668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152" y="266810"/>
            <a:ext cx="10185432" cy="862867"/>
          </a:xfrm>
        </p:spPr>
        <p:txBody>
          <a:bodyPr anchor="t"/>
          <a:lstStyle/>
          <a:p>
            <a:r>
              <a:rPr lang="en-US" sz="6000" dirty="0">
                <a:latin typeface="Segoe UI"/>
              </a:rPr>
              <a:t>CULTURAL COMPETENCE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CB98E7-7345-4449-AED9-A02BC0915A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3556" y="1042026"/>
            <a:ext cx="8832491" cy="576514"/>
          </a:xfrm>
        </p:spPr>
        <p:txBody>
          <a:bodyPr/>
          <a:lstStyle/>
          <a:p>
            <a:pPr marL="0" indent="0">
              <a:buNone/>
            </a:pPr>
            <a:r>
              <a:rPr lang="en-US" sz="3200" b="0" dirty="0">
                <a:latin typeface="+mn-lt"/>
              </a:rPr>
              <a:t>What is diversity and why is it important?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227474B-E289-44CA-9355-F0FF1F3DE95B}"/>
              </a:ext>
            </a:extLst>
          </p:cNvPr>
          <p:cNvSpPr txBox="1">
            <a:spLocks/>
          </p:cNvSpPr>
          <p:nvPr/>
        </p:nvSpPr>
        <p:spPr>
          <a:xfrm>
            <a:off x="386152" y="1388948"/>
            <a:ext cx="9084420" cy="4481320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Diversity encompasses race, ethnicity, sexual orientation, religion, socio-economic status, age, interest, differing abilities, and more!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Eight Reasons Why Diversity Matters in a University Setting</a:t>
            </a:r>
            <a:r>
              <a:rPr lang="en-US" dirty="0"/>
              <a:t> </a:t>
            </a:r>
            <a:r>
              <a:rPr lang="en-US" sz="1600" dirty="0"/>
              <a:t>(Hyman and Jacobs, 2009)</a:t>
            </a:r>
          </a:p>
          <a:p>
            <a:r>
              <a:rPr lang="en-US" dirty="0"/>
              <a:t>Expands Worldliness</a:t>
            </a:r>
          </a:p>
          <a:p>
            <a:r>
              <a:rPr lang="en-US" dirty="0"/>
              <a:t>Enhances Social Development</a:t>
            </a:r>
          </a:p>
          <a:p>
            <a:r>
              <a:rPr lang="en-US" dirty="0"/>
              <a:t>Prepares for Future Career Success</a:t>
            </a:r>
          </a:p>
          <a:p>
            <a:r>
              <a:rPr lang="en-US" dirty="0"/>
              <a:t>Increases Knowledge Base</a:t>
            </a:r>
          </a:p>
          <a:p>
            <a:r>
              <a:rPr lang="en-US" dirty="0"/>
              <a:t>Promotes Creative Thinking</a:t>
            </a:r>
          </a:p>
          <a:p>
            <a:r>
              <a:rPr lang="en-US" dirty="0"/>
              <a:t>Enriches Multiple Perspectives </a:t>
            </a:r>
          </a:p>
          <a:p>
            <a:r>
              <a:rPr lang="en-US" dirty="0"/>
              <a:t>Prepares for Work in a Global Society</a:t>
            </a:r>
          </a:p>
          <a:p>
            <a:r>
              <a:rPr lang="en-US" dirty="0"/>
              <a:t>Enhances Self-Awareness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3FACAE-7DDB-4C5E-8AFC-86E2DCD5F5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5568" y="3097763"/>
            <a:ext cx="4506686" cy="257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78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9CCD4CC-4BBC-4EE9-AF03-8D8972497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7400" y="589454"/>
            <a:ext cx="8285237" cy="1353646"/>
          </a:xfrm>
        </p:spPr>
        <p:txBody>
          <a:bodyPr anchor="ctr"/>
          <a:lstStyle/>
          <a:p>
            <a:pPr algn="r"/>
            <a:r>
              <a:rPr lang="en-US" sz="6600" dirty="0">
                <a:latin typeface="Segoe UI" panose="020B0502040204020203" pitchFamily="34" charset="0"/>
                <a:cs typeface="Segoe UI" panose="020B0502040204020203" pitchFamily="34" charset="0"/>
              </a:rPr>
              <a:t>DIVERSITY AT LOUISIANA TECH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BB8D0AF-06CD-43FF-B424-96FF00FED586}"/>
              </a:ext>
            </a:extLst>
          </p:cNvPr>
          <p:cNvSpPr txBox="1">
            <a:spLocks/>
          </p:cNvSpPr>
          <p:nvPr/>
        </p:nvSpPr>
        <p:spPr>
          <a:xfrm>
            <a:off x="5046305" y="2676071"/>
            <a:ext cx="6815705" cy="3213099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4000" dirty="0">
                <a:cs typeface="Arial"/>
              </a:rPr>
              <a:t>The Bulldog Success Center and the International Student Office provide warm, welcoming, encouraging, and inclusive environments for students, faculty, and staff , </a:t>
            </a:r>
          </a:p>
          <a:p>
            <a:pPr algn="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8311C5-409B-4E0A-95B2-298A3BBDF1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9708" y="1061102"/>
            <a:ext cx="4143001" cy="2682361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C0DC35-FBF5-4CC2-99A7-10E91B1A36E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707" y="4047607"/>
            <a:ext cx="4143001" cy="2682362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3661285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FA43-637B-EF8D-3849-CFD9352B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63" y="193940"/>
            <a:ext cx="11689674" cy="1079973"/>
          </a:xfrm>
        </p:spPr>
        <p:txBody>
          <a:bodyPr anchor="ctr"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LOUISIANA TECH </a:t>
            </a:r>
            <a:r>
              <a:rPr lang="en-US" b="0" dirty="0">
                <a:latin typeface="Segoe UI" panose="020B0502040204020203" pitchFamily="34" charset="0"/>
                <a:cs typeface="Segoe UI" panose="020B0502040204020203" pitchFamily="34" charset="0"/>
              </a:rPr>
              <a:t>STUDENT ORGANIZATIONS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305341A4-1B00-C8F4-5862-79A826C7502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6706" y="1075502"/>
            <a:ext cx="4126800" cy="2750806"/>
          </a:xfrm>
          <a:ln w="28575">
            <a:solidFill>
              <a:srgbClr val="FFFFFF"/>
            </a:solidFill>
          </a:ln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B1818B56-19AD-4603-A8CB-295BC4A2EEE7}"/>
              </a:ext>
            </a:extLst>
          </p:cNvPr>
          <p:cNvSpPr>
            <a:spLocks noGrp="1"/>
          </p:cNvSpPr>
          <p:nvPr/>
        </p:nvSpPr>
        <p:spPr>
          <a:xfrm>
            <a:off x="251163" y="1196223"/>
            <a:ext cx="5421849" cy="492465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sz="2000" dirty="0">
                <a:latin typeface="Segoe UI"/>
              </a:rPr>
              <a:t>Over 160 Student Organizations Encompassing:</a:t>
            </a:r>
          </a:p>
          <a:p>
            <a:pPr marL="285750" indent="-285750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latin typeface="Segoe UI"/>
              </a:rPr>
              <a:t>Service Organizations</a:t>
            </a:r>
          </a:p>
          <a:p>
            <a:pPr marL="285750" indent="-285750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latin typeface="Segoe UI"/>
              </a:rPr>
              <a:t>Religious Groups</a:t>
            </a:r>
          </a:p>
          <a:p>
            <a:pPr marL="285750" indent="-285750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latin typeface="Segoe UI"/>
              </a:rPr>
              <a:t>Sorority/Fraternities</a:t>
            </a:r>
          </a:p>
          <a:p>
            <a:pPr marL="285750" indent="-285750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latin typeface="Segoe UI"/>
              </a:rPr>
              <a:t>Special Interest Groups</a:t>
            </a:r>
          </a:p>
          <a:p>
            <a:pPr marL="285750" indent="-285750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latin typeface="Segoe UI"/>
              </a:rPr>
              <a:t>Professional Associations</a:t>
            </a:r>
          </a:p>
          <a:p>
            <a:pPr marL="285750" indent="-285750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latin typeface="Segoe UI"/>
              </a:rPr>
              <a:t>Honor Societies </a:t>
            </a:r>
          </a:p>
          <a:p>
            <a:pPr marL="285750" indent="-285750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latin typeface="Segoe UI"/>
              </a:rPr>
              <a:t>Student Government</a:t>
            </a:r>
          </a:p>
        </p:txBody>
      </p:sp>
      <p:pic>
        <p:nvPicPr>
          <p:cNvPr id="5" name="Picture Placeholder 11">
            <a:extLst>
              <a:ext uri="{FF2B5EF4-FFF2-40B4-BE49-F238E27FC236}">
                <a16:creationId xmlns:a16="http://schemas.microsoft.com/office/drawing/2014/main" id="{0DAFAAA0-98F6-43B3-BE96-EFFAA020C63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686"/>
          <a:stretch/>
        </p:blipFill>
        <p:spPr>
          <a:xfrm>
            <a:off x="8189167" y="2450905"/>
            <a:ext cx="4002833" cy="3558830"/>
          </a:xfrm>
          <a:custGeom>
            <a:avLst/>
            <a:gdLst>
              <a:gd name="connsiteX0" fmla="*/ 2063400 w 4126800"/>
              <a:gd name="connsiteY0" fmla="*/ 0 h 4126800"/>
              <a:gd name="connsiteX1" fmla="*/ 4126800 w 4126800"/>
              <a:gd name="connsiteY1" fmla="*/ 2063400 h 4126800"/>
              <a:gd name="connsiteX2" fmla="*/ 2063400 w 4126800"/>
              <a:gd name="connsiteY2" fmla="*/ 4126800 h 4126800"/>
              <a:gd name="connsiteX3" fmla="*/ 0 w 4126800"/>
              <a:gd name="connsiteY3" fmla="*/ 2063400 h 4126800"/>
              <a:gd name="connsiteX4" fmla="*/ 2063400 w 4126800"/>
              <a:gd name="connsiteY4" fmla="*/ 0 h 412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6800" h="4126800">
                <a:moveTo>
                  <a:pt x="2063400" y="0"/>
                </a:moveTo>
                <a:cubicBezTo>
                  <a:pt x="3202984" y="0"/>
                  <a:pt x="4126800" y="923816"/>
                  <a:pt x="4126800" y="2063400"/>
                </a:cubicBezTo>
                <a:cubicBezTo>
                  <a:pt x="4126800" y="3202984"/>
                  <a:pt x="3202984" y="4126800"/>
                  <a:pt x="2063400" y="4126800"/>
                </a:cubicBezTo>
                <a:cubicBezTo>
                  <a:pt x="923816" y="4126800"/>
                  <a:pt x="0" y="3202984"/>
                  <a:pt x="0" y="2063400"/>
                </a:cubicBezTo>
                <a:cubicBezTo>
                  <a:pt x="0" y="923816"/>
                  <a:pt x="923816" y="0"/>
                  <a:pt x="2063400" y="0"/>
                </a:cubicBezTo>
                <a:close/>
              </a:path>
            </a:pathLst>
          </a:custGeom>
          <a:ln w="28575">
            <a:solidFill>
              <a:srgbClr val="FFFFFF"/>
            </a:solidFill>
          </a:ln>
        </p:spPr>
      </p:pic>
      <p:pic>
        <p:nvPicPr>
          <p:cNvPr id="6" name="Picture Placeholder 11">
            <a:extLst>
              <a:ext uri="{FF2B5EF4-FFF2-40B4-BE49-F238E27FC236}">
                <a16:creationId xmlns:a16="http://schemas.microsoft.com/office/drawing/2014/main" id="{AAD3C728-9455-4CEF-A4C1-DD6359D2F60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7573" y="3995886"/>
            <a:ext cx="4002833" cy="2668174"/>
          </a:xfrm>
          <a:custGeom>
            <a:avLst/>
            <a:gdLst>
              <a:gd name="connsiteX0" fmla="*/ 2063400 w 4126800"/>
              <a:gd name="connsiteY0" fmla="*/ 0 h 4126800"/>
              <a:gd name="connsiteX1" fmla="*/ 4126800 w 4126800"/>
              <a:gd name="connsiteY1" fmla="*/ 2063400 h 4126800"/>
              <a:gd name="connsiteX2" fmla="*/ 2063400 w 4126800"/>
              <a:gd name="connsiteY2" fmla="*/ 4126800 h 4126800"/>
              <a:gd name="connsiteX3" fmla="*/ 0 w 4126800"/>
              <a:gd name="connsiteY3" fmla="*/ 2063400 h 4126800"/>
              <a:gd name="connsiteX4" fmla="*/ 2063400 w 4126800"/>
              <a:gd name="connsiteY4" fmla="*/ 0 h 412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6800" h="4126800">
                <a:moveTo>
                  <a:pt x="2063400" y="0"/>
                </a:moveTo>
                <a:cubicBezTo>
                  <a:pt x="3202984" y="0"/>
                  <a:pt x="4126800" y="923816"/>
                  <a:pt x="4126800" y="2063400"/>
                </a:cubicBezTo>
                <a:cubicBezTo>
                  <a:pt x="4126800" y="3202984"/>
                  <a:pt x="3202984" y="4126800"/>
                  <a:pt x="2063400" y="4126800"/>
                </a:cubicBezTo>
                <a:cubicBezTo>
                  <a:pt x="923816" y="4126800"/>
                  <a:pt x="0" y="3202984"/>
                  <a:pt x="0" y="2063400"/>
                </a:cubicBezTo>
                <a:cubicBezTo>
                  <a:pt x="0" y="923816"/>
                  <a:pt x="923816" y="0"/>
                  <a:pt x="2063400" y="0"/>
                </a:cubicBezTo>
                <a:close/>
              </a:path>
            </a:pathLst>
          </a:custGeom>
          <a:ln w="28575"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1198221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B7F34-A12A-46AA-937F-AF6A3D2EB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6082" y="366867"/>
            <a:ext cx="6756141" cy="1828800"/>
          </a:xfrm>
        </p:spPr>
        <p:txBody>
          <a:bodyPr/>
          <a:lstStyle/>
          <a:p>
            <a:pPr algn="ctr"/>
            <a:r>
              <a:rPr lang="en-US" sz="6600" dirty="0"/>
              <a:t>STUDENT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A6E55-E9E9-450C-B413-DBF1DAA484F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338735" y="2363824"/>
            <a:ext cx="7230836" cy="4201954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There are a lot resources around campus designed to help you connect and have a great college experience. What resources do you already know about?</a:t>
            </a:r>
          </a:p>
        </p:txBody>
      </p:sp>
    </p:spTree>
    <p:extLst>
      <p:ext uri="{BB962C8B-B14F-4D97-AF65-F5344CB8AC3E}">
        <p14:creationId xmlns:p14="http://schemas.microsoft.com/office/powerpoint/2010/main" val="1440527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639" y="138992"/>
            <a:ext cx="8901983" cy="1001874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RESIDENTIAL LIFE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3ACFFD-B446-4E73-95C1-E12C356CE4F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91672" y="1140866"/>
            <a:ext cx="5862349" cy="3908233"/>
          </a:xfrm>
          <a:prstGeom prst="ellipse">
            <a:avLst/>
          </a:prstGeom>
          <a:ln w="38100">
            <a:solidFill>
              <a:srgbClr val="FFFFFF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AB39C6-3A14-43A7-89D0-C2BC86FA7FE3}"/>
              </a:ext>
            </a:extLst>
          </p:cNvPr>
          <p:cNvSpPr txBox="1"/>
          <p:nvPr/>
        </p:nvSpPr>
        <p:spPr>
          <a:xfrm>
            <a:off x="251927" y="1250302"/>
            <a:ext cx="5131836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Perks to living on-campus: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Resident parking keeps you close to your classes, recreation, and more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Variety of housing options to fit every budget and preference.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Resident Assistants help foster connection through community events and provide the support necessary to have a great living experience. 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0DAB8D51-EAA6-4BFC-8F78-8B575B740B8A}"/>
              </a:ext>
            </a:extLst>
          </p:cNvPr>
          <p:cNvSpPr>
            <a:spLocks noGrp="1"/>
          </p:cNvSpPr>
          <p:nvPr/>
        </p:nvSpPr>
        <p:spPr>
          <a:xfrm>
            <a:off x="6096000" y="5526594"/>
            <a:ext cx="5421849" cy="119241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Wyly Tower 202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318.257.4917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housing@latech.edu</a:t>
            </a:r>
          </a:p>
        </p:txBody>
      </p:sp>
    </p:spTree>
    <p:extLst>
      <p:ext uri="{BB962C8B-B14F-4D97-AF65-F5344CB8AC3E}">
        <p14:creationId xmlns:p14="http://schemas.microsoft.com/office/powerpoint/2010/main" val="606303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639" y="138992"/>
            <a:ext cx="8901983" cy="1001874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CAMPUS DINING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9C039FE-2A57-4F2A-886C-051A8DF52EC3}"/>
              </a:ext>
            </a:extLst>
          </p:cNvPr>
          <p:cNvSpPr>
            <a:spLocks noGrp="1"/>
          </p:cNvSpPr>
          <p:nvPr/>
        </p:nvSpPr>
        <p:spPr>
          <a:xfrm>
            <a:off x="260493" y="1270868"/>
            <a:ext cx="10236445" cy="462607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000" dirty="0">
                <a:latin typeface="Segoe UI"/>
              </a:rPr>
              <a:t>On-Campus Dining Locations: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latin typeface="Segoe UI"/>
              </a:rPr>
              <a:t>The Tech Table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latin typeface="Segoe UI"/>
              </a:rPr>
              <a:t>Chick-fil-A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latin typeface="Segoe UI"/>
              </a:rPr>
              <a:t>Subway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latin typeface="Segoe UI"/>
              </a:rPr>
              <a:t>Moe’s Southwest Grill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0" dirty="0" err="1">
                <a:latin typeface="Segoe UI"/>
              </a:rPr>
              <a:t>Sushic</a:t>
            </a:r>
            <a:endParaRPr lang="en-US" sz="2400" b="0" dirty="0">
              <a:latin typeface="Segoe UI"/>
            </a:endParaRP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latin typeface="Segoe UI"/>
              </a:rPr>
              <a:t>Starbucks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latin typeface="Segoe UI"/>
              </a:rPr>
              <a:t>Quick Eats – Richardson Hall, Tolliver Hall, College of Business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E5AA64-892D-472F-9DEF-A168009BEAF2}"/>
              </a:ext>
            </a:extLst>
          </p:cNvPr>
          <p:cNvGrpSpPr/>
          <p:nvPr/>
        </p:nvGrpSpPr>
        <p:grpSpPr>
          <a:xfrm>
            <a:off x="608842" y="5588077"/>
            <a:ext cx="10599575" cy="1005038"/>
            <a:chOff x="1576109" y="5681383"/>
            <a:chExt cx="10599575" cy="100503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1A20930-A1C9-4B6E-AF41-070881EF3C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76109" y="5681383"/>
              <a:ext cx="2314756" cy="100503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CE0E825-086F-4657-8ACC-399FAD1D65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29608" y="5681383"/>
              <a:ext cx="8546076" cy="1005038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A5A5206-E764-44B5-AA63-13BAD4E44C9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1180" y="1035698"/>
            <a:ext cx="3760648" cy="3541722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2148457484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639" y="334935"/>
            <a:ext cx="8901983" cy="100187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/>
              <a:t>COUNSELING SERVICES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70D9C7E-3EDA-42E9-B972-4397F96836F1}"/>
              </a:ext>
            </a:extLst>
          </p:cNvPr>
          <p:cNvSpPr>
            <a:spLocks noGrp="1"/>
          </p:cNvSpPr>
          <p:nvPr/>
        </p:nvSpPr>
        <p:spPr>
          <a:xfrm>
            <a:off x="269823" y="5521191"/>
            <a:ext cx="5421849" cy="119241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Keeny Hall 310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318.257.2488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counseling@latech.edu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1B6DD85-ABF3-4720-939C-7BE59922DF0F}"/>
              </a:ext>
            </a:extLst>
          </p:cNvPr>
          <p:cNvSpPr>
            <a:spLocks noGrp="1"/>
          </p:cNvSpPr>
          <p:nvPr/>
        </p:nvSpPr>
        <p:spPr>
          <a:xfrm>
            <a:off x="269823" y="1336809"/>
            <a:ext cx="5421849" cy="370760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SERVICES OFFERED: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Individual Counseling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Group Counseling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Crisis Intervention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Ethics Training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Medication Management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Smart HABITS Academy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Alcohol &amp; Other Drug Education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DC4BB3-3751-416B-9096-BA4C39983CA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12163" y="1295626"/>
            <a:ext cx="3657600" cy="2792380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C0D5F1-537D-4E50-A700-4AC420BB4C2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97305" y="3007488"/>
            <a:ext cx="4432040" cy="3564293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3264528405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639" y="334935"/>
            <a:ext cx="8901983" cy="1001874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CAREER CENTER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70D9C7E-3EDA-42E9-B972-4397F96836F1}"/>
              </a:ext>
            </a:extLst>
          </p:cNvPr>
          <p:cNvSpPr>
            <a:spLocks noGrp="1"/>
          </p:cNvSpPr>
          <p:nvPr/>
        </p:nvSpPr>
        <p:spPr>
          <a:xfrm>
            <a:off x="269823" y="5521190"/>
            <a:ext cx="5421849" cy="119241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Keeny Hall 337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318.257.4336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careercenter@latech.edu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1B6DD85-ABF3-4720-939C-7BE59922DF0F}"/>
              </a:ext>
            </a:extLst>
          </p:cNvPr>
          <p:cNvSpPr>
            <a:spLocks noGrp="1"/>
          </p:cNvSpPr>
          <p:nvPr/>
        </p:nvSpPr>
        <p:spPr>
          <a:xfrm>
            <a:off x="269823" y="1575198"/>
            <a:ext cx="8109067" cy="370760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SERVICES OFFERED: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Job Exploration Services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Career Preparation Seminars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Resume Reviews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Professional Dining Etiquette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Handshake Career Platform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Career Fairs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Career-Planning Courses (COUN 200 &amp; 303)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Career Library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On-Campus Interview Spaces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DC4BB3-3751-416B-9096-BA4C39983CA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8366" y="1336809"/>
            <a:ext cx="3657600" cy="2438704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C0D5F1-537D-4E50-A700-4AC420BB4C2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3288" y="3429000"/>
            <a:ext cx="4432040" cy="2955284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1372911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23" y="334935"/>
            <a:ext cx="11617377" cy="763485"/>
          </a:xfrm>
        </p:spPr>
        <p:txBody>
          <a:bodyPr>
            <a:noAutofit/>
          </a:bodyPr>
          <a:lstStyle/>
          <a:p>
            <a:pPr algn="ctr"/>
            <a:r>
              <a:rPr lang="en-US" sz="4800" dirty="0"/>
              <a:t>TESTING &amp; DISABILITY  SERVICES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70D9C7E-3EDA-42E9-B972-4397F96836F1}"/>
              </a:ext>
            </a:extLst>
          </p:cNvPr>
          <p:cNvSpPr>
            <a:spLocks noGrp="1"/>
          </p:cNvSpPr>
          <p:nvPr/>
        </p:nvSpPr>
        <p:spPr>
          <a:xfrm>
            <a:off x="6176638" y="5400826"/>
            <a:ext cx="5421849" cy="119241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Wyly Tower 318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318.257.2969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tds@latech.edu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1B6DD85-ABF3-4720-939C-7BE59922DF0F}"/>
              </a:ext>
            </a:extLst>
          </p:cNvPr>
          <p:cNvSpPr>
            <a:spLocks noGrp="1"/>
          </p:cNvSpPr>
          <p:nvPr/>
        </p:nvSpPr>
        <p:spPr>
          <a:xfrm>
            <a:off x="269823" y="1658411"/>
            <a:ext cx="6046894" cy="29552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SERVICES OFFERED: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Standardized Testing Services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CLEP Credit Exams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Major Field Exams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Liaison assisting students with qualifying disabilities in working with faculty, staff, and community agencies.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dirty="0">
                <a:latin typeface="Segoe UI"/>
              </a:rPr>
              <a:t>Available accommodations for eligible students include: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300" b="0" dirty="0">
              <a:latin typeface="Segoe U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DC4BB3-3751-416B-9096-BA4C39983CA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6331" y="1178527"/>
            <a:ext cx="5262462" cy="3508308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1386105B-4985-4580-A3F3-F0638DB65407}"/>
              </a:ext>
            </a:extLst>
          </p:cNvPr>
          <p:cNvSpPr>
            <a:spLocks noGrp="1"/>
          </p:cNvSpPr>
          <p:nvPr/>
        </p:nvSpPr>
        <p:spPr>
          <a:xfrm>
            <a:off x="593513" y="4924832"/>
            <a:ext cx="6500970" cy="119241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000" b="0" dirty="0">
                <a:latin typeface="Segoe UI"/>
              </a:rPr>
              <a:t>Extended time on tests/assignments, distraction-reduced environments, consideration for classroom breaks, preferred seating, and assistance with notes.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2400" b="0" dirty="0"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29301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67" y="334935"/>
            <a:ext cx="10174012" cy="1001874"/>
          </a:xfrm>
        </p:spPr>
        <p:txBody>
          <a:bodyPr>
            <a:normAutofit fontScale="90000"/>
          </a:bodyPr>
          <a:lstStyle/>
          <a:p>
            <a:pPr algn="r"/>
            <a:r>
              <a:rPr lang="en-US" sz="6000" dirty="0"/>
              <a:t>INTERNATIONAL STUDENT OFFICE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70D9C7E-3EDA-42E9-B972-4397F96836F1}"/>
              </a:ext>
            </a:extLst>
          </p:cNvPr>
          <p:cNvSpPr>
            <a:spLocks noGrp="1"/>
          </p:cNvSpPr>
          <p:nvPr/>
        </p:nvSpPr>
        <p:spPr>
          <a:xfrm>
            <a:off x="269823" y="5521190"/>
            <a:ext cx="5421849" cy="119241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Back of Tolliver Hall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318.257.4321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iso@latech.edu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1B6DD85-ABF3-4720-939C-7BE59922DF0F}"/>
              </a:ext>
            </a:extLst>
          </p:cNvPr>
          <p:cNvSpPr>
            <a:spLocks noGrp="1"/>
          </p:cNvSpPr>
          <p:nvPr/>
        </p:nvSpPr>
        <p:spPr>
          <a:xfrm>
            <a:off x="6348248" y="2815462"/>
            <a:ext cx="5573929" cy="389814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SERVICES OFFERED: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International Picnics, International Scholarship Dinner, Cultural Festivals, and more.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International Recruitment and Admissions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International Student Orientation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Assisting ISO students in applying for social security cards, driver’s licenses, and ID cards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Resource for cultural information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Student Ambassador Programs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Dessert Social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Coffee Hour Fridays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Seminars and workshops</a:t>
            </a:r>
            <a:endParaRPr lang="en-US" sz="1050" b="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C0D5F1-537D-4E50-A700-4AC420BB4C2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4151" y="1336809"/>
            <a:ext cx="5421849" cy="3614049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3431919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48" y="261557"/>
            <a:ext cx="10174012" cy="1001874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BARNES &amp; NOBLE BOOKSTORE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70D9C7E-3EDA-42E9-B972-4397F96836F1}"/>
              </a:ext>
            </a:extLst>
          </p:cNvPr>
          <p:cNvSpPr>
            <a:spLocks noGrp="1"/>
          </p:cNvSpPr>
          <p:nvPr/>
        </p:nvSpPr>
        <p:spPr>
          <a:xfrm>
            <a:off x="6386202" y="5764289"/>
            <a:ext cx="5421849" cy="83215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Barnes &amp; Noble Building (exterior Quad)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318.257.3066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1B6DD85-ABF3-4720-939C-7BE59922DF0F}"/>
              </a:ext>
            </a:extLst>
          </p:cNvPr>
          <p:cNvSpPr>
            <a:spLocks noGrp="1"/>
          </p:cNvSpPr>
          <p:nvPr/>
        </p:nvSpPr>
        <p:spPr>
          <a:xfrm>
            <a:off x="383949" y="2447600"/>
            <a:ext cx="4934286" cy="361404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SERVICES OFFERED: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Bulldog Bundle - $23 / credit hour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 err="1">
                <a:latin typeface="+mn-lt"/>
              </a:rPr>
              <a:t>Opt</a:t>
            </a:r>
            <a:r>
              <a:rPr lang="en-US" sz="1800" b="0" dirty="0">
                <a:latin typeface="+mn-lt"/>
              </a:rPr>
              <a:t> in/out within first 7 class days.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Textbook purchases and rentals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Purchase Scantrons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School supplies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Licensed Tech Gear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Graduation Regalia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Graduation Class Rings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VIP Events &amp; Sales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C0D5F1-537D-4E50-A700-4AC420BB4C2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2130" y="2776305"/>
            <a:ext cx="3468027" cy="2854453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6B5B7E-DF9A-4050-A6DD-9AC8BED3B7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1528" y="1124386"/>
            <a:ext cx="3375428" cy="4506372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1609250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04" y="289635"/>
            <a:ext cx="10174012" cy="1001874"/>
          </a:xfrm>
        </p:spPr>
        <p:txBody>
          <a:bodyPr>
            <a:normAutofit/>
          </a:bodyPr>
          <a:lstStyle/>
          <a:p>
            <a:r>
              <a:rPr lang="en-US" sz="6000" dirty="0"/>
              <a:t>RECREATION SERVICES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70D9C7E-3EDA-42E9-B972-4397F96836F1}"/>
              </a:ext>
            </a:extLst>
          </p:cNvPr>
          <p:cNvSpPr>
            <a:spLocks noGrp="1"/>
          </p:cNvSpPr>
          <p:nvPr/>
        </p:nvSpPr>
        <p:spPr>
          <a:xfrm>
            <a:off x="421904" y="5711682"/>
            <a:ext cx="5421849" cy="8566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Lambright Sports &amp; Wellness Center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318.257.4634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1B6DD85-ABF3-4720-939C-7BE59922DF0F}"/>
              </a:ext>
            </a:extLst>
          </p:cNvPr>
          <p:cNvSpPr>
            <a:spLocks noGrp="1"/>
          </p:cNvSpPr>
          <p:nvPr/>
        </p:nvSpPr>
        <p:spPr>
          <a:xfrm>
            <a:off x="6196167" y="1291509"/>
            <a:ext cx="5573929" cy="49000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latin typeface="Segoe UI"/>
              </a:rPr>
              <a:t>SERVICES OFFERED: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Intramural Sports each quarter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Club Sports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Aerobics, Group Workouts, and Spin Classes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Fitness Assessments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Personal Training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7.5 Acre Park with Running Trails, Picnic Tables, Pavilions, and a Frisbee Golf Course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Indoor Rock Wall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6 – Lane Bowling Alley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6 Full-Size Basketball Courts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Indoor/Outdoor Pool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Billiards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Racquetball Courts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Ping Pong Tables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latin typeface="+mn-lt"/>
              </a:rPr>
              <a:t>Two fitness areas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050" b="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C0D5F1-537D-4E50-A700-4AC420BB4C2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904" y="1336809"/>
            <a:ext cx="5421073" cy="3614049"/>
          </a:xfrm>
          <a:prstGeom prst="rect">
            <a:avLst/>
          </a:prstGeom>
          <a:ln w="28575"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2612405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04" y="170531"/>
            <a:ext cx="10174012" cy="1001874"/>
          </a:xfrm>
        </p:spPr>
        <p:txBody>
          <a:bodyPr>
            <a:normAutofit/>
          </a:bodyPr>
          <a:lstStyle/>
          <a:p>
            <a:r>
              <a:rPr lang="en-US" sz="6000" dirty="0"/>
              <a:t>ATHLETICS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1B6DD85-ABF3-4720-939C-7BE59922DF0F}"/>
              </a:ext>
            </a:extLst>
          </p:cNvPr>
          <p:cNvSpPr>
            <a:spLocks noGrp="1"/>
          </p:cNvSpPr>
          <p:nvPr/>
        </p:nvSpPr>
        <p:spPr>
          <a:xfrm>
            <a:off x="6361171" y="1108209"/>
            <a:ext cx="5573929" cy="238292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+mn-lt"/>
              </a:rPr>
              <a:t>Member of Conference USA (CUSA)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+mn-lt"/>
              </a:rPr>
              <a:t>Year-round Sports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+mn-lt"/>
              </a:rPr>
              <a:t>Free Admission to All Home, Regular Season Sporting Event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+mn-lt"/>
              </a:rPr>
              <a:t>Louisiana Tech Athletics App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+mn-lt"/>
              </a:rPr>
              <a:t>Numerous Post-Season Appearances including 6 National Championships (Football – </a:t>
            </a:r>
            <a:r>
              <a:rPr lang="en-US" sz="1600" b="0" dirty="0" err="1">
                <a:latin typeface="+mn-lt"/>
              </a:rPr>
              <a:t>Div</a:t>
            </a:r>
            <a:r>
              <a:rPr lang="en-US" sz="1600" b="0" dirty="0">
                <a:latin typeface="+mn-lt"/>
              </a:rPr>
              <a:t> II &amp; Women’s Basketball – Div. I)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0" dirty="0">
                <a:latin typeface="+mn-lt"/>
              </a:rPr>
              <a:t>Full NCAA Division I Participating Sports: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050" b="0" dirty="0">
              <a:latin typeface="+mn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673DC5B-186C-4E5C-AC92-B9288D17ECFB}"/>
              </a:ext>
            </a:extLst>
          </p:cNvPr>
          <p:cNvGrpSpPr/>
          <p:nvPr/>
        </p:nvGrpSpPr>
        <p:grpSpPr>
          <a:xfrm>
            <a:off x="256900" y="1108208"/>
            <a:ext cx="5822530" cy="5017383"/>
            <a:chOff x="421903" y="1081576"/>
            <a:chExt cx="4811108" cy="41785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FC0D5F1-537D-4E50-A700-4AC420BB4C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21903" y="3066105"/>
              <a:ext cx="2479356" cy="2194014"/>
            </a:xfrm>
            <a:prstGeom prst="rect">
              <a:avLst/>
            </a:prstGeom>
            <a:ln w="28575">
              <a:solidFill>
                <a:srgbClr val="FFFFFF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7EFE39B-6AF9-4974-8639-199D2265A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1903" y="1081576"/>
              <a:ext cx="2910189" cy="1940126"/>
            </a:xfrm>
            <a:prstGeom prst="rect">
              <a:avLst/>
            </a:prstGeom>
            <a:ln w="28575">
              <a:solidFill>
                <a:srgbClr val="FFFFFF"/>
              </a:solidFill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90AFC75-72B9-4814-B504-874DCE8052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63275" y="1081576"/>
              <a:ext cx="1869735" cy="1940126"/>
            </a:xfrm>
            <a:prstGeom prst="rect">
              <a:avLst/>
            </a:prstGeom>
            <a:ln w="28575">
              <a:solidFill>
                <a:srgbClr val="FFFFFF"/>
              </a:solidFill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7E17A98-33EB-429E-80D5-408BAE73EF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942631" y="3066104"/>
              <a:ext cx="2290380" cy="2194013"/>
            </a:xfrm>
            <a:prstGeom prst="rect">
              <a:avLst/>
            </a:prstGeom>
            <a:ln w="28575">
              <a:solidFill>
                <a:srgbClr val="FFFFFF"/>
              </a:solidFill>
            </a:ln>
          </p:spPr>
        </p:pic>
      </p:grpSp>
      <p:sp>
        <p:nvSpPr>
          <p:cNvPr id="12" name="Title 3">
            <a:extLst>
              <a:ext uri="{FF2B5EF4-FFF2-40B4-BE49-F238E27FC236}">
                <a16:creationId xmlns:a16="http://schemas.microsoft.com/office/drawing/2014/main" id="{CEE460C5-9CF4-4825-8378-47E71A7FEE99}"/>
              </a:ext>
            </a:extLst>
          </p:cNvPr>
          <p:cNvSpPr>
            <a:spLocks noGrp="1"/>
          </p:cNvSpPr>
          <p:nvPr/>
        </p:nvSpPr>
        <p:spPr>
          <a:xfrm>
            <a:off x="6618072" y="3596542"/>
            <a:ext cx="3316042" cy="27266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0" dirty="0">
                <a:latin typeface="+mn-lt"/>
              </a:rPr>
              <a:t>Baseball / Softball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0" dirty="0">
                <a:latin typeface="+mn-lt"/>
              </a:rPr>
              <a:t>Men’s &amp; Women’s Basketball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0" dirty="0">
                <a:latin typeface="+mn-lt"/>
              </a:rPr>
              <a:t>Track &amp; Field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0" dirty="0">
                <a:latin typeface="+mn-lt"/>
              </a:rPr>
              <a:t>Cross Country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0" dirty="0">
                <a:latin typeface="+mn-lt"/>
              </a:rPr>
              <a:t>Bowling (Women)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0" dirty="0">
                <a:latin typeface="+mn-lt"/>
              </a:rPr>
              <a:t>Soccer (Women)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0" dirty="0">
                <a:latin typeface="+mn-lt"/>
              </a:rPr>
              <a:t>Tennis (Women)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0" dirty="0">
                <a:latin typeface="+mn-lt"/>
              </a:rPr>
              <a:t>Golf (Men)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0" dirty="0">
                <a:latin typeface="+mn-lt"/>
              </a:rPr>
              <a:t>Football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0" dirty="0">
                <a:latin typeface="+mn-lt"/>
              </a:rPr>
              <a:t>Volleyball (Women)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05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796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15D2-7F57-AF2A-38D7-558098789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701" y="1903303"/>
            <a:ext cx="7599718" cy="3051394"/>
          </a:xfrm>
        </p:spPr>
        <p:txBody>
          <a:bodyPr/>
          <a:lstStyle/>
          <a:p>
            <a:r>
              <a:rPr lang="en-US" sz="9600" dirty="0"/>
              <a:t>MAKING HEALTHY DECISIONS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F4F50D-EF92-52BD-E839-28B30DD0BD09}"/>
              </a:ext>
            </a:extLst>
          </p:cNvPr>
          <p:cNvSpPr txBox="1">
            <a:spLocks/>
          </p:cNvSpPr>
          <p:nvPr/>
        </p:nvSpPr>
        <p:spPr>
          <a:xfrm>
            <a:off x="710701" y="5673589"/>
            <a:ext cx="8961120" cy="92315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Black"/>
                <a:ea typeface="+mj-ea"/>
              </a:rPr>
              <a:t>Chapter 8</a:t>
            </a:r>
          </a:p>
        </p:txBody>
      </p:sp>
    </p:spTree>
    <p:extLst>
      <p:ext uri="{BB962C8B-B14F-4D97-AF65-F5344CB8AC3E}">
        <p14:creationId xmlns:p14="http://schemas.microsoft.com/office/powerpoint/2010/main" val="2578480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ABBA-2E6D-E7DD-AC67-58D1FCB3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581" y="450530"/>
            <a:ext cx="6400800" cy="1828800"/>
          </a:xfrm>
        </p:spPr>
        <p:txBody>
          <a:bodyPr/>
          <a:lstStyle/>
          <a:p>
            <a:r>
              <a:rPr lang="en-US" sz="6600" dirty="0">
                <a:latin typeface="Segoe UI"/>
              </a:rPr>
              <a:t>CHAPTER OBJECTIVES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01105-5841-28D0-D6C0-3E1A46648BF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581" y="2441995"/>
            <a:ext cx="6999514" cy="3548258"/>
          </a:xfr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sz="2000" dirty="0">
                <a:cs typeface="Arial"/>
              </a:rPr>
              <a:t>Understand the safety resources available on campus</a:t>
            </a:r>
          </a:p>
          <a:p>
            <a:endParaRPr lang="en-US" sz="2000" dirty="0">
              <a:cs typeface="Arial"/>
            </a:endParaRPr>
          </a:p>
          <a:p>
            <a:r>
              <a:rPr lang="en-US" sz="2000" dirty="0">
                <a:cs typeface="Arial"/>
              </a:rPr>
              <a:t>Articulate tips and strategies for maintaining personal safety and protection</a:t>
            </a:r>
          </a:p>
          <a:p>
            <a:endParaRPr lang="en-US" sz="2000" dirty="0">
              <a:cs typeface="Arial"/>
            </a:endParaRPr>
          </a:p>
          <a:p>
            <a:r>
              <a:rPr lang="en-US" sz="2000" dirty="0">
                <a:cs typeface="Arial"/>
              </a:rPr>
              <a:t>Define and recognize hazing and harassment</a:t>
            </a:r>
          </a:p>
          <a:p>
            <a:endParaRPr lang="en-US" sz="2000" dirty="0">
              <a:cs typeface="Arial"/>
            </a:endParaRPr>
          </a:p>
          <a:p>
            <a:r>
              <a:rPr lang="en-US" sz="2000" dirty="0">
                <a:cs typeface="Arial"/>
              </a:rPr>
              <a:t>Demonstrate effective choices for physical wellness</a:t>
            </a:r>
          </a:p>
          <a:p>
            <a:endParaRPr lang="en-US" dirty="0"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978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B0B9689-7055-4C10-A2BF-B8D77058757E}"/>
              </a:ext>
            </a:extLst>
          </p:cNvPr>
          <p:cNvSpPr txBox="1"/>
          <p:nvPr/>
        </p:nvSpPr>
        <p:spPr>
          <a:xfrm>
            <a:off x="241158" y="584038"/>
            <a:ext cx="75018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There are many choices and decisions you will have to make in college. What (or who) will guide you and impact those decisions?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BC9FE5B2-C2B4-F4E2-1412-A9E4E98960F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584"/>
          <a:stretch/>
        </p:blipFill>
        <p:spPr>
          <a:xfrm>
            <a:off x="8135241" y="2257196"/>
            <a:ext cx="3456590" cy="3456590"/>
          </a:xfrm>
        </p:spPr>
      </p:pic>
    </p:spTree>
    <p:extLst>
      <p:ext uri="{BB962C8B-B14F-4D97-AF65-F5344CB8AC3E}">
        <p14:creationId xmlns:p14="http://schemas.microsoft.com/office/powerpoint/2010/main" val="1978481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FA43-637B-EF8D-3849-CFD9352B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63" y="193940"/>
            <a:ext cx="11689674" cy="1079973"/>
          </a:xfrm>
        </p:spPr>
        <p:txBody>
          <a:bodyPr anchor="ctr"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SAFETY, SECURITY, AND SUPPORT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305341A4-1B00-C8F4-5862-79A826C7502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59279" y="733926"/>
            <a:ext cx="4381558" cy="4381558"/>
          </a:xfr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B1818B56-19AD-4603-A8CB-295BC4A2EEE7}"/>
              </a:ext>
            </a:extLst>
          </p:cNvPr>
          <p:cNvSpPr>
            <a:spLocks noGrp="1"/>
          </p:cNvSpPr>
          <p:nvPr/>
        </p:nvSpPr>
        <p:spPr>
          <a:xfrm>
            <a:off x="251163" y="1196223"/>
            <a:ext cx="6798947" cy="492465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j-ea"/>
              </a:rPr>
              <a:t>Being protected, safe, and supported while on campus is </a:t>
            </a:r>
            <a:r>
              <a:rPr kumimoji="0" lang="en-US" sz="16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j-ea"/>
              </a:rPr>
              <a:t>everyone’s </a:t>
            </a:r>
            <a:r>
              <a:rPr kumimoji="0" lang="en-US" sz="16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j-ea"/>
              </a:rPr>
              <a:t>responsibility. The University Police, the faculty and administration, counseling services, and many more are actively working to ensure your safety. But let’s not forget that you must play a part yourself.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j-ea"/>
              </a:rPr>
              <a:t>TIPS TO HELP WITH SAFETY AND CRIME PREVENTION: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j-ea"/>
              </a:rPr>
              <a:t>Be alert and pay attention.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j-ea"/>
              </a:rPr>
              <a:t>Utilize golf cart escort service – 318.257.4018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j-ea"/>
              </a:rPr>
              <a:t>Lock the doors to your car and residence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j-ea"/>
              </a:rPr>
              <a:t>Report suspicious activity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j-ea"/>
              </a:rPr>
              <a:t>Download the Safe Dog App</a:t>
            </a:r>
          </a:p>
        </p:txBody>
      </p:sp>
      <p:pic>
        <p:nvPicPr>
          <p:cNvPr id="5" name="Picture Placeholder 11">
            <a:extLst>
              <a:ext uri="{FF2B5EF4-FFF2-40B4-BE49-F238E27FC236}">
                <a16:creationId xmlns:a16="http://schemas.microsoft.com/office/drawing/2014/main" id="{C48D7B8A-BA71-44BC-BF20-01B198A03B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49184" y="2425486"/>
            <a:ext cx="1980392" cy="360209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28293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2710DA-9EEA-4796-AC11-40948227B42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710" y="2975041"/>
            <a:ext cx="2703919" cy="2703919"/>
          </a:xfrm>
          <a:prstGeom prst="ellipse">
            <a:avLst/>
          </a:prstGeom>
          <a:ln w="28575">
            <a:solidFill>
              <a:srgbClr val="FFFFFF"/>
            </a:solidFill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9CCD4CC-4BBC-4EE9-AF03-8D8972497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2629" y="337528"/>
            <a:ext cx="8285237" cy="1353646"/>
          </a:xfrm>
        </p:spPr>
        <p:txBody>
          <a:bodyPr anchor="ctr"/>
          <a:lstStyle/>
          <a:p>
            <a:pPr algn="r"/>
            <a:r>
              <a:rPr lang="en-US" sz="6600" dirty="0">
                <a:cs typeface="Segoe UI" panose="020B0502040204020203" pitchFamily="34" charset="0"/>
              </a:rPr>
              <a:t>THE SAFE DOG APP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BB8D0AF-06CD-43FF-B424-96FF00FED586}"/>
              </a:ext>
            </a:extLst>
          </p:cNvPr>
          <p:cNvSpPr txBox="1">
            <a:spLocks/>
          </p:cNvSpPr>
          <p:nvPr/>
        </p:nvSpPr>
        <p:spPr>
          <a:xfrm>
            <a:off x="4142792" y="2096208"/>
            <a:ext cx="7816456" cy="3883089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Available on Android and iPhone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Send in Anonymous Tips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FriendWatch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 tracker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Easily call campus police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Request Escort Services</a:t>
            </a: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6317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861" y="138992"/>
            <a:ext cx="9883761" cy="1001874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HAZING &amp; HARASSMENT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98403-927F-404F-979E-DB320DBEF1C7}"/>
              </a:ext>
            </a:extLst>
          </p:cNvPr>
          <p:cNvSpPr txBox="1"/>
          <p:nvPr/>
        </p:nvSpPr>
        <p:spPr>
          <a:xfrm>
            <a:off x="475861" y="1244007"/>
            <a:ext cx="9759821" cy="206210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HAZING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Any activity expected of someone joining or participating in a group that humiliates, degrades, abuses, or endangers them regardless of a person’s willingness to participate.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C697A0-DEA9-4F4B-8DFC-A1BD4373C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283" y="2995061"/>
            <a:ext cx="4643251" cy="3539429"/>
          </a:xfrm>
          <a:prstGeom prst="rect">
            <a:avLst/>
          </a:prstGeom>
          <a:ln w="38100">
            <a:solidFill>
              <a:srgbClr val="CB333B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A0394C-F6C2-4EA7-B4DC-BA04CB7128E5}"/>
              </a:ext>
            </a:extLst>
          </p:cNvPr>
          <p:cNvSpPr/>
          <p:nvPr/>
        </p:nvSpPr>
        <p:spPr>
          <a:xfrm>
            <a:off x="475861" y="3334036"/>
            <a:ext cx="6096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Hazing is against state law (RS 17:1801) and campus policy. Hazing is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not tolerated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by Louisiana Tech University and student training is required.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9038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861" y="138992"/>
            <a:ext cx="9883761" cy="1001874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HAZING &amp; HARASSMENT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98403-927F-404F-979E-DB320DBEF1C7}"/>
              </a:ext>
            </a:extLst>
          </p:cNvPr>
          <p:cNvSpPr txBox="1"/>
          <p:nvPr/>
        </p:nvSpPr>
        <p:spPr>
          <a:xfrm>
            <a:off x="453807" y="1158428"/>
            <a:ext cx="9759821" cy="243143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HARASSMENT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Unwanted and unwelcome conduct directed against a person based on one or more of a person’s protected characteristics or status which is so severe or pervasive that it creates an intimidating, hostile, or offensive environment.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C697A0-DEA9-4F4B-8DFC-A1BD4373C8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283" y="3051256"/>
            <a:ext cx="4643251" cy="3427038"/>
          </a:xfrm>
          <a:prstGeom prst="rect">
            <a:avLst/>
          </a:prstGeom>
          <a:ln w="38100">
            <a:solidFill>
              <a:srgbClr val="CB333B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A0394C-F6C2-4EA7-B4DC-BA04CB7128E5}"/>
              </a:ext>
            </a:extLst>
          </p:cNvPr>
          <p:cNvSpPr/>
          <p:nvPr/>
        </p:nvSpPr>
        <p:spPr>
          <a:xfrm>
            <a:off x="453807" y="3242388"/>
            <a:ext cx="590034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May be Physical, Verbal, or Non-Verbal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Stalking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Sexual Harassment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Cyber-Bullying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If you or someone you know is impacted by harassment on campus, contact the Title IX Office in Wyly Tower 1526.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96777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FE382D1-35C2-4857-1EA4-9A6C7E325A13}"/>
              </a:ext>
            </a:extLst>
          </p:cNvPr>
          <p:cNvSpPr txBox="1">
            <a:spLocks/>
          </p:cNvSpPr>
          <p:nvPr/>
        </p:nvSpPr>
        <p:spPr>
          <a:xfrm>
            <a:off x="382554" y="1621354"/>
            <a:ext cx="5606144" cy="2959977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Although a natural and functional part of life, it can also lead to: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Unwanted pregnancy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Sexually Transmitted Infections (STI’s)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Emotional Consequences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Deciding to engage in sexual activity should not be taken lightly. Be sure to consider: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89EE9E0E-0A8A-49F6-B5E5-0C23BC6B5CCB}"/>
              </a:ext>
            </a:extLst>
          </p:cNvPr>
          <p:cNvSpPr txBox="1">
            <a:spLocks/>
          </p:cNvSpPr>
          <p:nvPr/>
        </p:nvSpPr>
        <p:spPr>
          <a:xfrm>
            <a:off x="382554" y="512988"/>
            <a:ext cx="7977674" cy="1294039"/>
          </a:xfrm>
          <a:prstGeom prst="rect">
            <a:avLst/>
          </a:prstGeom>
        </p:spPr>
        <p:txBody>
          <a:bodyPr vert="horz" lIns="0" tIns="0" rIns="0" bIns="0" rtlCol="0" anchor="t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Black"/>
                <a:ea typeface="+mj-ea"/>
              </a:rPr>
              <a:t>SEXUAL HEALTH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1DADF3-72AC-4D1C-8C1D-C141DA9265B7}"/>
              </a:ext>
            </a:extLst>
          </p:cNvPr>
          <p:cNvSpPr/>
          <p:nvPr/>
        </p:nvSpPr>
        <p:spPr>
          <a:xfrm>
            <a:off x="314131" y="4581331"/>
            <a:ext cx="68704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Abstinence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 – choosing to not be sexually active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Monogamy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 – being sexually exclusive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Education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 – making informed decisions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Communication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 – define comfort levels and precautions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Protection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 – use a condom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Vaccination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 – protect yourself against HPV and Hepatitis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Screening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 – getting tested and seeing your physician regularly</a:t>
            </a:r>
          </a:p>
        </p:txBody>
      </p:sp>
    </p:spTree>
    <p:extLst>
      <p:ext uri="{BB962C8B-B14F-4D97-AF65-F5344CB8AC3E}">
        <p14:creationId xmlns:p14="http://schemas.microsoft.com/office/powerpoint/2010/main" val="756889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FE382D1-35C2-4857-1EA4-9A6C7E325A13}"/>
              </a:ext>
            </a:extLst>
          </p:cNvPr>
          <p:cNvSpPr txBox="1">
            <a:spLocks/>
          </p:cNvSpPr>
          <p:nvPr/>
        </p:nvSpPr>
        <p:spPr>
          <a:xfrm>
            <a:off x="463420" y="1574702"/>
            <a:ext cx="6969968" cy="1047202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This next slide will include statistics and information on sexual assault and rape. If you are not comfortable with this topic, please feel free to step outside of the classroom.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Arial"/>
            </a:endParaRP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89EE9E0E-0A8A-49F6-B5E5-0C23BC6B5CCB}"/>
              </a:ext>
            </a:extLst>
          </p:cNvPr>
          <p:cNvSpPr txBox="1">
            <a:spLocks/>
          </p:cNvSpPr>
          <p:nvPr/>
        </p:nvSpPr>
        <p:spPr>
          <a:xfrm>
            <a:off x="382554" y="512988"/>
            <a:ext cx="7977674" cy="1294039"/>
          </a:xfrm>
          <a:prstGeom prst="rect">
            <a:avLst/>
          </a:prstGeom>
        </p:spPr>
        <p:txBody>
          <a:bodyPr vert="horz" lIns="0" tIns="0" rIns="0" bIns="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Black"/>
                <a:ea typeface="+mj-ea"/>
              </a:rPr>
              <a:t>SEXUAL VIOLENCE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991071-06AC-4FB1-B0D2-798A44AF3E97}"/>
              </a:ext>
            </a:extLst>
          </p:cNvPr>
          <p:cNvSpPr/>
          <p:nvPr/>
        </p:nvSpPr>
        <p:spPr>
          <a:xfrm>
            <a:off x="382554" y="3850822"/>
            <a:ext cx="7632442" cy="260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If you or someone you know have been impacted by sexual assault, please utilize campus resources such as: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The Counseling Center (free and confidential) – 318.257.2488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Campus Police – 318.257.4018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National Sexual Assault Hotline – 800.656.HOPE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National Coalition Against Domestic Violence – hopeline.com</a:t>
            </a:r>
          </a:p>
        </p:txBody>
      </p:sp>
    </p:spTree>
    <p:extLst>
      <p:ext uri="{BB962C8B-B14F-4D97-AF65-F5344CB8AC3E}">
        <p14:creationId xmlns:p14="http://schemas.microsoft.com/office/powerpoint/2010/main" val="835435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FE382D1-35C2-4857-1EA4-9A6C7E325A13}"/>
              </a:ext>
            </a:extLst>
          </p:cNvPr>
          <p:cNvSpPr txBox="1">
            <a:spLocks/>
          </p:cNvSpPr>
          <p:nvPr/>
        </p:nvSpPr>
        <p:spPr>
          <a:xfrm>
            <a:off x="463420" y="1574702"/>
            <a:ext cx="6969968" cy="1047202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Sexual assault and rape are real threats that college students face. 13% of college students and 1 in 5 college women experience rape or sexual assault at some point.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(RAINN.ORG)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Arial"/>
            </a:endParaRP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89EE9E0E-0A8A-49F6-B5E5-0C23BC6B5CCB}"/>
              </a:ext>
            </a:extLst>
          </p:cNvPr>
          <p:cNvSpPr txBox="1">
            <a:spLocks/>
          </p:cNvSpPr>
          <p:nvPr/>
        </p:nvSpPr>
        <p:spPr>
          <a:xfrm>
            <a:off x="382554" y="512988"/>
            <a:ext cx="7977674" cy="1294039"/>
          </a:xfrm>
          <a:prstGeom prst="rect">
            <a:avLst/>
          </a:prstGeom>
        </p:spPr>
        <p:txBody>
          <a:bodyPr vert="horz" lIns="0" tIns="0" rIns="0" bIns="0" rtlCol="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spc="100" baseline="0">
                <a:solidFill>
                  <a:schemeClr val="bg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0" b="1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Black"/>
                <a:ea typeface="+mj-ea"/>
              </a:rPr>
              <a:t>SEXUAL VIOLENCE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991071-06AC-4FB1-B0D2-798A44AF3E97}"/>
              </a:ext>
            </a:extLst>
          </p:cNvPr>
          <p:cNvSpPr/>
          <p:nvPr/>
        </p:nvSpPr>
        <p:spPr>
          <a:xfrm>
            <a:off x="382554" y="3290985"/>
            <a:ext cx="797767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80% of assaults go unreported, with alcohol and drugs playing large roles in a majority of reported assaults. Follow these tips to help protect yourself and avoid this from happening to you: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Know your sexual rights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Communicate personal boundaries early in a relationship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Listen to your basic instincts and be cautious in dating strangers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Use clear judgement if consuming alcohol and avoid drug use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Steer clear of unfamiliar surroundings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Use the “buddy system” and surround yourself with friends</a:t>
            </a:r>
          </a:p>
        </p:txBody>
      </p:sp>
    </p:spTree>
    <p:extLst>
      <p:ext uri="{BB962C8B-B14F-4D97-AF65-F5344CB8AC3E}">
        <p14:creationId xmlns:p14="http://schemas.microsoft.com/office/powerpoint/2010/main" val="951323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A770316-3C9F-4A08-B94C-9A5DFFE9404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466" y="4385374"/>
            <a:ext cx="3424345" cy="2282897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5" name="Title 7">
            <a:extLst>
              <a:ext uri="{FF2B5EF4-FFF2-40B4-BE49-F238E27FC236}">
                <a16:creationId xmlns:a16="http://schemas.microsoft.com/office/drawing/2014/main" id="{D3641F9A-6686-48BF-ABA0-33D840924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295" y="549492"/>
            <a:ext cx="10941943" cy="990059"/>
          </a:xfrm>
        </p:spPr>
        <p:txBody>
          <a:bodyPr>
            <a:normAutofit/>
          </a:bodyPr>
          <a:lstStyle/>
          <a:p>
            <a:r>
              <a:rPr lang="en-US" sz="6000" dirty="0"/>
              <a:t>TAKING CARE OF YOURSELF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140CDBB-C3BD-4C72-8F82-F1B2177E156B}"/>
              </a:ext>
            </a:extLst>
          </p:cNvPr>
          <p:cNvSpPr txBox="1">
            <a:spLocks/>
          </p:cNvSpPr>
          <p:nvPr/>
        </p:nvSpPr>
        <p:spPr>
          <a:xfrm>
            <a:off x="6164974" y="1732420"/>
            <a:ext cx="5417117" cy="59512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Get 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adequate rest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(at least 8 Hours) to help avoid problems like sickness, stress, and depression.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Arial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EF28273-646A-4B49-95BA-BAA8A28BBB91}"/>
              </a:ext>
            </a:extLst>
          </p:cNvPr>
          <p:cNvSpPr txBox="1">
            <a:spLocks/>
          </p:cNvSpPr>
          <p:nvPr/>
        </p:nvSpPr>
        <p:spPr>
          <a:xfrm>
            <a:off x="6130487" y="3486390"/>
            <a:ext cx="5417117" cy="59512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Good nutrition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 is crucial to avoiding feel and perform your best.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Arial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C98209-5C09-4D7E-8B39-445833922A4D}"/>
              </a:ext>
            </a:extLst>
          </p:cNvPr>
          <p:cNvSpPr/>
          <p:nvPr/>
        </p:nvSpPr>
        <p:spPr>
          <a:xfrm>
            <a:off x="6095998" y="4828020"/>
            <a:ext cx="54860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Regular exercise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/>
              </a:rPr>
              <a:t> is a important in maintain health and reduce the risk of disease and injury.</a:t>
            </a:r>
            <a:endParaRPr kumimoji="0" lang="en-US" sz="2400" b="0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8ACD0A-A778-46E7-B839-D0EB7DBCC5A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5402" y="2751624"/>
            <a:ext cx="3424687" cy="2282897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65A94D-A83A-4187-8347-680125DEB51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3296" y="1432636"/>
            <a:ext cx="3424686" cy="2069594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880028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462D7-27D2-94DC-1264-B79226686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801" y="305167"/>
            <a:ext cx="10673814" cy="795845"/>
          </a:xfrm>
        </p:spPr>
        <p:txBody>
          <a:bodyPr anchor="t">
            <a:normAutofit/>
          </a:bodyPr>
          <a:lstStyle/>
          <a:p>
            <a:pPr algn="ctr"/>
            <a:r>
              <a:rPr lang="en-US" sz="5400" dirty="0"/>
              <a:t>MAINTING PHYSICAL HEALTH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CB98E7-7345-4449-AED9-A02BC0915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5514" y="1101012"/>
            <a:ext cx="7000972" cy="466531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</a:rPr>
              <a:t>THE BALANCING ACT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788156E-8496-42FD-903E-451880F732EE}"/>
              </a:ext>
            </a:extLst>
          </p:cNvPr>
          <p:cNvSpPr txBox="1">
            <a:spLocks/>
          </p:cNvSpPr>
          <p:nvPr/>
        </p:nvSpPr>
        <p:spPr>
          <a:xfrm>
            <a:off x="355518" y="1688840"/>
            <a:ext cx="9607421" cy="50104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 panose="020B0604020202020204" pitchFamily="34" charset="0"/>
              </a:rPr>
              <a:t>Eat a diet that is healthy and adequate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 panose="020B0604020202020204" pitchFamily="34" charset="0"/>
              </a:rPr>
              <a:t>Utilize the 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 panose="020B0604020202020204" pitchFamily="34" charset="0"/>
              </a:rPr>
              <a:t>Good Nutrition Mission Food Pantry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 panose="020B0604020202020204" pitchFamily="34" charset="0"/>
              </a:rPr>
              <a:t>Engage in regular exercise at the </a:t>
            </a:r>
            <a:r>
              <a:rPr kumimoji="0" 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 panose="020B0604020202020204" pitchFamily="34" charset="0"/>
              </a:rPr>
              <a:t>Lambright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 panose="020B0604020202020204" pitchFamily="34" charset="0"/>
              </a:rPr>
              <a:t>Educate yourself about drug and alcohol use and maintain a healthy perspective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 panose="020B0604020202020204" pitchFamily="34" charset="0"/>
              </a:rPr>
              <a:t>Practice a regular and healthy sleep pattern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 panose="020B0604020202020204" pitchFamily="34" charset="0"/>
              </a:rPr>
              <a:t>Understand and practice health behaviors related to sexual and romantic relationships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 panose="020B0604020202020204" pitchFamily="34" charset="0"/>
              </a:rPr>
              <a:t>Maintain regular doctor and dentist appointments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 panose="020B0604020202020204" pitchFamily="34" charset="0"/>
              </a:rPr>
              <a:t>Consult the medical professionals at the </a:t>
            </a:r>
            <a:r>
              <a:rPr kumimoji="0" lang="en-US" sz="2400" b="1" i="0" u="sng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 panose="020B0604020202020204" pitchFamily="34" charset="0"/>
              </a:rPr>
              <a:t>TechCare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 panose="020B0604020202020204" pitchFamily="34" charset="0"/>
              </a:rPr>
              <a:t> Student Health Center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Arial" panose="020B0604020202020204" pitchFamily="34" charset="0"/>
              </a:rPr>
              <a:t> as needed.  </a:t>
            </a:r>
          </a:p>
        </p:txBody>
      </p:sp>
    </p:spTree>
    <p:extLst>
      <p:ext uri="{BB962C8B-B14F-4D97-AF65-F5344CB8AC3E}">
        <p14:creationId xmlns:p14="http://schemas.microsoft.com/office/powerpoint/2010/main" val="1040307398"/>
      </p:ext>
    </p:extLst>
  </p:cSld>
  <p:clrMapOvr>
    <a:masterClrMapping/>
  </p:clrMapOvr>
</p:sld>
</file>

<file path=ppt/theme/theme1.xml><?xml version="1.0" encoding="utf-8"?>
<a:theme xmlns:a="http://schemas.openxmlformats.org/drawingml/2006/main" name="FYE Master Theme">
  <a:themeElements>
    <a:clrScheme name="Tech Colors">
      <a:dk1>
        <a:srgbClr val="000000"/>
      </a:dk1>
      <a:lt1>
        <a:srgbClr val="FFFFFF"/>
      </a:lt1>
      <a:dk2>
        <a:srgbClr val="003087"/>
      </a:dk2>
      <a:lt2>
        <a:srgbClr val="E7E6E6"/>
      </a:lt2>
      <a:accent1>
        <a:srgbClr val="CB333B"/>
      </a:accent1>
      <a:accent2>
        <a:srgbClr val="69B3E7"/>
      </a:accent2>
      <a:accent3>
        <a:srgbClr val="003087"/>
      </a:accent3>
      <a:accent4>
        <a:srgbClr val="0A3254"/>
      </a:accent4>
      <a:accent5>
        <a:srgbClr val="C6DAE7"/>
      </a:accent5>
      <a:accent6>
        <a:srgbClr val="B73E26"/>
      </a:accent6>
      <a:hlink>
        <a:srgbClr val="A2AAAD"/>
      </a:hlink>
      <a:folHlink>
        <a:srgbClr val="0A3254"/>
      </a:folHlink>
    </a:clrScheme>
    <a:fontScheme name="FYE Preset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YE Master Theme" id="{23E53EA7-8BFA-486B-A80D-9F0A33E7E0C9}" vid="{0E37A176-8147-4D86-8613-5379B65434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FYE Master Theme</Template>
  <TotalTime>7</TotalTime>
  <Words>1529</Words>
  <Application>Microsoft Office PowerPoint</Application>
  <PresentationFormat>Widescreen</PresentationFormat>
  <Paragraphs>264</Paragraphs>
  <Slides>28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Aptos</vt:lpstr>
      <vt:lpstr>Arial</vt:lpstr>
      <vt:lpstr>Arial Black</vt:lpstr>
      <vt:lpstr>Segoe UI</vt:lpstr>
      <vt:lpstr>Segoe UI Black</vt:lpstr>
      <vt:lpstr>Segoe UI Light</vt:lpstr>
      <vt:lpstr>Wingdings</vt:lpstr>
      <vt:lpstr>FYE Master Theme</vt:lpstr>
      <vt:lpstr>CONNECTING TO STUDENT LIFE</vt:lpstr>
      <vt:lpstr>CHAPTER OBJECTIVES</vt:lpstr>
      <vt:lpstr>PowerPoint Presentation</vt:lpstr>
      <vt:lpstr>CULTURAL COMPETENCE</vt:lpstr>
      <vt:lpstr>DIVERSITY AT LOUISIANA TECH</vt:lpstr>
      <vt:lpstr>LOUISIANA TECH STUDENT ORGANIZATIONS</vt:lpstr>
      <vt:lpstr>STUDENT RESOURCES</vt:lpstr>
      <vt:lpstr>RESIDENTIAL LIFE</vt:lpstr>
      <vt:lpstr>CAMPUS DINING</vt:lpstr>
      <vt:lpstr>COUNSELING SERVICES</vt:lpstr>
      <vt:lpstr>CAREER CENTER</vt:lpstr>
      <vt:lpstr>TESTING &amp; DISABILITY  SERVICES</vt:lpstr>
      <vt:lpstr>INTERNATIONAL STUDENT OFFICE</vt:lpstr>
      <vt:lpstr>BARNES &amp; NOBLE BOOKSTORE</vt:lpstr>
      <vt:lpstr>RECREATION SERVICES</vt:lpstr>
      <vt:lpstr>ATHLETICS</vt:lpstr>
      <vt:lpstr>MAKING HEALTHY DECISIONS</vt:lpstr>
      <vt:lpstr>CHAPTER OBJECTIVES</vt:lpstr>
      <vt:lpstr>PowerPoint Presentation</vt:lpstr>
      <vt:lpstr>SAFETY, SECURITY, AND SUPPORT</vt:lpstr>
      <vt:lpstr>THE SAFE DOG APP</vt:lpstr>
      <vt:lpstr>HAZING &amp; HARASSMENT</vt:lpstr>
      <vt:lpstr>HAZING &amp; HARASSMENT</vt:lpstr>
      <vt:lpstr>PowerPoint Presentation</vt:lpstr>
      <vt:lpstr>PowerPoint Presentation</vt:lpstr>
      <vt:lpstr>PowerPoint Presentation</vt:lpstr>
      <vt:lpstr>TAKING CARE OF YOURSELF</vt:lpstr>
      <vt:lpstr>MAINTING PHYSICAL HEALTH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Elton Taylor</dc:creator>
  <cp:lastModifiedBy>William Long</cp:lastModifiedBy>
  <cp:revision>2</cp:revision>
  <dcterms:created xsi:type="dcterms:W3CDTF">2025-08-11T01:42:01Z</dcterms:created>
  <dcterms:modified xsi:type="dcterms:W3CDTF">2025-09-08T14:58:38Z</dcterms:modified>
</cp:coreProperties>
</file>